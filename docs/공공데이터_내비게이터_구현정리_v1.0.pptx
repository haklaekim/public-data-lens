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설계서 v1.0 확정판(동결) 기반. AIRD 진단은 제2부 v0.87 표준 MMI(D5-03·D6-01·D7-01·D7-02) 기준이며 DM-0은 참고 공시. 벌크 정본(datasets/catalog-records/quality-annotations NDJSON) 산출.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웹 생성형 컨시어지(M3)는 서버 측 LLM이 호스트 역할을 하는 첫 MCP 클라이언트로 설계되어 있으며 이번 범위에서는 보류.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빌드 소요 약 14초. 수용 검사 실패 시 배포 중단, 이전 정상 버전 유지.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MCP in-memory 클라이언트로 tools/prompts/resources 전수 검증. ChatGPT·Cursor 등 타 클라이언트 호환성 확인은 §11 항목으로 남아 있음.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골든셋 eval_report.json에 질의별 상세 지표 저장. 평가 재현: python scripts/eval_goldenset.py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검색 0건 시 AND→OR 자동 완화 후 warning 표시. 검색어 입력 제한 500자.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최신성은 목록 수준 판정이며 실데이터 최신성이 아님을 툴팁으로 고지.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JSON-LD Context·SHACL 셰이프는 MCP Resource와 REST로 공개.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6개 이상 요청 시 TOO_MANY_DATASETS 오류(§4.3 입력 제한).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REAPPEARED는 이전 diff의 MISSING 집합을 참조하는 체인 로직 — 단위 테스트로 검증.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로컬 검증 우선 방침에 따라 M3·공개 산출물은 보류. 저장소는 로컬 git(main, 2 커밋).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2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5544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공공데이터 내비게이터 v1.0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41248" y="2487168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 정리와 화면 인터페이스 안내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" y="312724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설계서 v1.0 확정판 기반 M1 + M2 — 코어 구현 후보(beta)  ·  스냅샷 2026-02  ·  2026-07-17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41248" y="4114800"/>
            <a:ext cx="2057400" cy="1051560"/>
          </a:xfrm>
          <a:prstGeom prst="roundRect">
            <a:avLst>
              <a:gd name="adj" fmla="val 7826"/>
            </a:avLst>
          </a:prstGeom>
          <a:solidFill>
            <a:srgbClr val="1A3468"/>
          </a:solidFill>
          <a:ln/>
        </p:spPr>
      </p:sp>
      <p:sp>
        <p:nvSpPr>
          <p:cNvPr id="6" name="Text 4"/>
          <p:cNvSpPr/>
          <p:nvPr/>
        </p:nvSpPr>
        <p:spPr>
          <a:xfrm>
            <a:off x="978408" y="42245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95,793건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78408" y="470001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4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정규화 카탈로그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127248" y="4114800"/>
            <a:ext cx="2057400" cy="1051560"/>
          </a:xfrm>
          <a:prstGeom prst="roundRect">
            <a:avLst>
              <a:gd name="adj" fmla="val 7826"/>
            </a:avLst>
          </a:prstGeom>
          <a:solidFill>
            <a:srgbClr val="1A3468"/>
          </a:solidFill>
          <a:ln/>
        </p:spPr>
      </p:sp>
      <p:sp>
        <p:nvSpPr>
          <p:cNvPr id="9" name="Text 7"/>
          <p:cNvSpPr/>
          <p:nvPr/>
        </p:nvSpPr>
        <p:spPr>
          <a:xfrm>
            <a:off x="3264408" y="42245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5+1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3264408" y="470001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4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인터페이스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13248" y="4114800"/>
            <a:ext cx="2057400" cy="1051560"/>
          </a:xfrm>
          <a:prstGeom prst="roundRect">
            <a:avLst>
              <a:gd name="adj" fmla="val 7826"/>
            </a:avLst>
          </a:prstGeom>
          <a:solidFill>
            <a:srgbClr val="1A3468"/>
          </a:solidFill>
          <a:ln/>
        </p:spPr>
      </p:sp>
      <p:sp>
        <p:nvSpPr>
          <p:cNvPr id="12" name="Text 10"/>
          <p:cNvSpPr/>
          <p:nvPr/>
        </p:nvSpPr>
        <p:spPr>
          <a:xfrm>
            <a:off x="5550408" y="42245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DM-0 (참고)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5550408" y="470001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4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AIRD 표준 MMI 진단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699248" y="4114800"/>
            <a:ext cx="2057400" cy="1051560"/>
          </a:xfrm>
          <a:prstGeom prst="roundRect">
            <a:avLst>
              <a:gd name="adj" fmla="val 7826"/>
            </a:avLst>
          </a:prstGeom>
          <a:solidFill>
            <a:srgbClr val="1A3468"/>
          </a:solidFill>
          <a:ln/>
        </p:spPr>
      </p:sp>
      <p:sp>
        <p:nvSpPr>
          <p:cNvPr id="15" name="Text 13"/>
          <p:cNvSpPr/>
          <p:nvPr/>
        </p:nvSpPr>
        <p:spPr>
          <a:xfrm>
            <a:off x="7836408" y="42245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26/26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7836408" y="470001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4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수용 기준 테스트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41248" y="58064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E9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하고 싶은 일을 말하면, 사용할 공공데이터와 그 선택 이유, 함께 필요한 데이터, 확인해야 할 한계를 알려주는 AI 공공데이터 내비게이터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856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84632" y="530352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3층 구조와 책임 분리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6035040" cy="969264"/>
          </a:xfrm>
          <a:prstGeom prst="roundRect">
            <a:avLst>
              <a:gd name="adj" fmla="val 6604"/>
            </a:avLst>
          </a:prstGeom>
          <a:solidFill>
            <a:srgbClr val="10224E"/>
          </a:solidFill>
          <a:ln w="12700">
            <a:solidFill>
              <a:srgbClr val="1022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00200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3층 · 판단·경험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31520" y="1911096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AEC4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호스트 에이전트(클로드 등) · 웹 UI — 의도 해석, 조건부 추천, 활용 계획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 flipV="1">
            <a:off x="3520440" y="2450592"/>
            <a:ext cx="0" cy="201168"/>
          </a:xfrm>
          <a:prstGeom prst="line">
            <a:avLst/>
          </a:prstGeom>
          <a:noFill/>
          <a:ln w="19050">
            <a:solidFill>
              <a:srgbClr val="B8C4D4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02920" y="2651760"/>
            <a:ext cx="6035040" cy="969264"/>
          </a:xfrm>
          <a:prstGeom prst="roundRect">
            <a:avLst>
              <a:gd name="adj" fmla="val 6604"/>
            </a:avLst>
          </a:prstGeom>
          <a:solidFill>
            <a:srgbClr val="1856C9"/>
          </a:solidFill>
          <a:ln w="12700">
            <a:solidFill>
              <a:srgbClr val="1856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770632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2층 · 인터페이스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31520" y="3081528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6E4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서버 + REST — 결정론적 Tool 5+1 · Prompt 2 · Resource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 flipV="1">
            <a:off x="3520440" y="3621024"/>
            <a:ext cx="0" cy="201168"/>
          </a:xfrm>
          <a:prstGeom prst="line">
            <a:avLst/>
          </a:prstGeom>
          <a:noFill/>
          <a:ln w="19050">
            <a:solidFill>
              <a:srgbClr val="B8C4D4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02920" y="3822192"/>
            <a:ext cx="6035040" cy="969264"/>
          </a:xfrm>
          <a:prstGeom prst="roundRect">
            <a:avLst>
              <a:gd name="adj" fmla="val 6604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941064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1층 · AIRD 정본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731520" y="425196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월별 스냅샷 → 정규화(매핑표) → JSON-LD · SHACL · 판정 규칙 · diff · 이슈 관찰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 flipV="1">
            <a:off x="3520440" y="4791456"/>
            <a:ext cx="0" cy="201168"/>
          </a:xfrm>
          <a:prstGeom prst="line">
            <a:avLst/>
          </a:prstGeom>
          <a:noFill/>
          <a:ln w="19050">
            <a:solidFill>
              <a:srgbClr val="B8C4D4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02920" y="4992624"/>
            <a:ext cx="6035040" cy="969264"/>
          </a:xfrm>
          <a:prstGeom prst="roundRect">
            <a:avLst>
              <a:gd name="adj" fmla="val 6604"/>
            </a:avLst>
          </a:prstGeom>
          <a:solidFill>
            <a:srgbClr val="F4F6F9"/>
          </a:solidFill>
          <a:ln w="12700">
            <a:solidFill>
              <a:srgbClr val="E3E7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111496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원천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731520" y="5422392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A5AE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공공데이터포털 목록개방현황(월간 CSV) — 원본 무손실 보존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903720" y="1481328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설계의 핵심 규칙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903720" y="1956816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0" y="2048256"/>
            <a:ext cx="201168" cy="201168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7406640" y="1883664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재현 가능한 판정 = 서버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7406640" y="2139696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정규화·완전성·최신성·비교·랭킹은 규칙 버전과 함께 서버가 결정론적으로 수행 (§2)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903720" y="2779776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2871216"/>
            <a:ext cx="201168" cy="201168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7406640" y="2706624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목적 의존적 해석 = 호스트</a:t>
            </a:r>
            <a:endParaRPr lang="en-US" sz="1350" dirty="0"/>
          </a:p>
        </p:txBody>
      </p:sp>
      <p:sp>
        <p:nvSpPr>
          <p:cNvPr id="27" name="Text 23"/>
          <p:cNvSpPr/>
          <p:nvPr/>
        </p:nvSpPr>
        <p:spPr>
          <a:xfrm>
            <a:off x="7406640" y="2962656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"고령자 의료 접근성" 같은 목적 문장의 분해·조건부 추천은 MCP 호스트(클로드 등)의 몫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6903720" y="3602736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60" y="3694176"/>
            <a:ext cx="201168" cy="201168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7406640" y="3529584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포털을 대체하지 않음</a:t>
            </a:r>
            <a:endParaRPr lang="en-US" sz="1350" dirty="0"/>
          </a:p>
        </p:txBody>
      </p:sp>
      <p:sp>
        <p:nvSpPr>
          <p:cNvPr id="31" name="Text 26"/>
          <p:cNvSpPr/>
          <p:nvPr/>
        </p:nvSpPr>
        <p:spPr>
          <a:xfrm>
            <a:off x="7406640" y="3785616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원문 접근은 공공데이터포털로 연결 — 탐색·판단 계층에 머무름 (§1)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903720" y="4425696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160" y="4517136"/>
            <a:ext cx="201168" cy="201168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7406640" y="4352544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 수준의 명시</a:t>
            </a:r>
            <a:endParaRPr lang="en-US" sz="1350" dirty="0"/>
          </a:p>
        </p:txBody>
      </p:sp>
      <p:sp>
        <p:nvSpPr>
          <p:cNvPr id="35" name="Text 29"/>
          <p:cNvSpPr/>
          <p:nvPr/>
        </p:nvSpPr>
        <p:spPr>
          <a:xfrm>
            <a:off x="7406640" y="460857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판정은 목록 메타데이터 기반(CATALOG_METADATA_ONLY) — 실데이터 품질 비보증, 전 응답 면책 고지</a:t>
            </a:r>
            <a:endParaRPr lang="en-US" sz="1150" dirty="0"/>
          </a:p>
        </p:txBody>
      </p:sp>
      <p:sp>
        <p:nvSpPr>
          <p:cNvPr id="36" name="Shape 30"/>
          <p:cNvSpPr/>
          <p:nvPr/>
        </p:nvSpPr>
        <p:spPr>
          <a:xfrm>
            <a:off x="6903720" y="5385816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5160" y="5477256"/>
            <a:ext cx="201168" cy="201168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7406640" y="5312664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원자적 배포</a:t>
            </a:r>
            <a:endParaRPr lang="en-US" sz="1350" dirty="0"/>
          </a:p>
        </p:txBody>
      </p:sp>
      <p:sp>
        <p:nvSpPr>
          <p:cNvPr id="39" name="Text 32"/>
          <p:cNvSpPr/>
          <p:nvPr/>
        </p:nvSpPr>
        <p:spPr>
          <a:xfrm>
            <a:off x="7406640" y="556869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릴리스 빌드 후 current 포인터 교체 — 실행 중 서버가 재시작 없이 새 스냅샷 반영 (§8, 실검증 완료)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856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1 · AIRD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84632" y="530352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월간 파이프라인 — 수집에서 원자적 배포까지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1298448" cy="868680"/>
          </a:xfrm>
          <a:prstGeom prst="roundRect">
            <a:avLst>
              <a:gd name="adj" fmla="val 7368"/>
            </a:avLst>
          </a:prstGeom>
          <a:solidFill>
            <a:srgbClr val="E8F0FE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17904"/>
            <a:ext cx="120700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80" b="1" dirty="0">
                <a:solidFill>
                  <a:srgbClr val="10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원본 보존</a:t>
            </a:r>
            <a:endParaRPr lang="en-US" sz="98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80" b="1" dirty="0">
                <a:solidFill>
                  <a:srgbClr val="10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(해시·행수)</a:t>
            </a:r>
            <a:endParaRPr lang="en-US" sz="980" dirty="0"/>
          </a:p>
        </p:txBody>
      </p:sp>
      <p:sp>
        <p:nvSpPr>
          <p:cNvPr id="6" name="Shape 4"/>
          <p:cNvSpPr/>
          <p:nvPr/>
        </p:nvSpPr>
        <p:spPr>
          <a:xfrm>
            <a:off x="1801368" y="1920240"/>
            <a:ext cx="146304" cy="0"/>
          </a:xfrm>
          <a:prstGeom prst="line">
            <a:avLst/>
          </a:prstGeom>
          <a:noFill/>
          <a:ln w="15240">
            <a:solidFill>
              <a:srgbClr val="B8C4D4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947672" y="1481328"/>
            <a:ext cx="1298448" cy="868680"/>
          </a:xfrm>
          <a:prstGeom prst="roundRect">
            <a:avLst>
              <a:gd name="adj" fmla="val 7368"/>
            </a:avLst>
          </a:prstGeom>
          <a:solidFill>
            <a:srgbClr val="E8F0FE"/>
          </a:solidFill>
          <a:ln/>
        </p:spPr>
      </p:sp>
      <p:sp>
        <p:nvSpPr>
          <p:cNvPr id="8" name="Text 6"/>
          <p:cNvSpPr/>
          <p:nvPr/>
        </p:nvSpPr>
        <p:spPr>
          <a:xfrm>
            <a:off x="1993392" y="1517904"/>
            <a:ext cx="120700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80" b="1" dirty="0">
                <a:solidFill>
                  <a:srgbClr val="10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파싱·정규화</a:t>
            </a:r>
            <a:endParaRPr lang="en-US" sz="98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80" b="1" dirty="0">
                <a:solidFill>
                  <a:srgbClr val="10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(FILE/API/STD)</a:t>
            </a:r>
            <a:endParaRPr lang="en-US" sz="980" dirty="0"/>
          </a:p>
        </p:txBody>
      </p:sp>
      <p:sp>
        <p:nvSpPr>
          <p:cNvPr id="9" name="Shape 7"/>
          <p:cNvSpPr/>
          <p:nvPr/>
        </p:nvSpPr>
        <p:spPr>
          <a:xfrm>
            <a:off x="3246120" y="1920240"/>
            <a:ext cx="146304" cy="0"/>
          </a:xfrm>
          <a:prstGeom prst="line">
            <a:avLst/>
          </a:prstGeom>
          <a:noFill/>
          <a:ln w="15240">
            <a:solidFill>
              <a:srgbClr val="B8C4D4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392424" y="1481328"/>
            <a:ext cx="1298448" cy="868680"/>
          </a:xfrm>
          <a:prstGeom prst="roundRect">
            <a:avLst>
              <a:gd name="adj" fmla="val 7368"/>
            </a:avLst>
          </a:prstGeom>
          <a:solidFill>
            <a:srgbClr val="E8F0FE"/>
          </a:solidFill>
          <a:ln/>
        </p:spPr>
      </p:sp>
      <p:sp>
        <p:nvSpPr>
          <p:cNvPr id="11" name="Text 9"/>
          <p:cNvSpPr/>
          <p:nvPr/>
        </p:nvSpPr>
        <p:spPr>
          <a:xfrm>
            <a:off x="3438144" y="1517904"/>
            <a:ext cx="120700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80" b="1" dirty="0">
                <a:solidFill>
                  <a:srgbClr val="10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완전성·지역</a:t>
            </a:r>
            <a:endParaRPr lang="en-US" sz="98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80" b="1" dirty="0">
                <a:solidFill>
                  <a:srgbClr val="10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·이슈 관찰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4690872" y="1920240"/>
            <a:ext cx="146304" cy="0"/>
          </a:xfrm>
          <a:prstGeom prst="line">
            <a:avLst/>
          </a:prstGeom>
          <a:noFill/>
          <a:ln w="15240">
            <a:solidFill>
              <a:srgbClr val="B8C4D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837176" y="1481328"/>
            <a:ext cx="1298448" cy="868680"/>
          </a:xfrm>
          <a:prstGeom prst="roundRect">
            <a:avLst>
              <a:gd name="adj" fmla="val 7368"/>
            </a:avLst>
          </a:prstGeom>
          <a:solidFill>
            <a:srgbClr val="E8F0FE"/>
          </a:solidFill>
          <a:ln/>
        </p:spPr>
      </p:sp>
      <p:sp>
        <p:nvSpPr>
          <p:cNvPr id="14" name="Text 12"/>
          <p:cNvSpPr/>
          <p:nvPr/>
        </p:nvSpPr>
        <p:spPr>
          <a:xfrm>
            <a:off x="4882896" y="1517904"/>
            <a:ext cx="120700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80" b="1" dirty="0">
                <a:solidFill>
                  <a:srgbClr val="10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JSON-LD 정본</a:t>
            </a:r>
            <a:endParaRPr lang="en-US" sz="98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80" b="1" dirty="0">
                <a:solidFill>
                  <a:srgbClr val="10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(dcat·kdp)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6135624" y="1920240"/>
            <a:ext cx="146304" cy="0"/>
          </a:xfrm>
          <a:prstGeom prst="line">
            <a:avLst/>
          </a:prstGeom>
          <a:noFill/>
          <a:ln w="15240">
            <a:solidFill>
              <a:srgbClr val="B8C4D4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281928" y="1481328"/>
            <a:ext cx="1298448" cy="868680"/>
          </a:xfrm>
          <a:prstGeom prst="roundRect">
            <a:avLst>
              <a:gd name="adj" fmla="val 7368"/>
            </a:avLst>
          </a:prstGeom>
          <a:solidFill>
            <a:srgbClr val="E8F0FE"/>
          </a:solidFill>
          <a:ln/>
        </p:spPr>
      </p:sp>
      <p:sp>
        <p:nvSpPr>
          <p:cNvPr id="17" name="Text 15"/>
          <p:cNvSpPr/>
          <p:nvPr/>
        </p:nvSpPr>
        <p:spPr>
          <a:xfrm>
            <a:off x="6327648" y="1517904"/>
            <a:ext cx="120700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80" b="1" dirty="0">
                <a:solidFill>
                  <a:srgbClr val="10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SHACL 검증</a:t>
            </a:r>
            <a:endParaRPr lang="en-US" sz="980" dirty="0"/>
          </a:p>
        </p:txBody>
      </p:sp>
      <p:sp>
        <p:nvSpPr>
          <p:cNvPr id="18" name="Shape 16"/>
          <p:cNvSpPr/>
          <p:nvPr/>
        </p:nvSpPr>
        <p:spPr>
          <a:xfrm>
            <a:off x="7580376" y="1920240"/>
            <a:ext cx="146304" cy="0"/>
          </a:xfrm>
          <a:prstGeom prst="line">
            <a:avLst/>
          </a:prstGeom>
          <a:noFill/>
          <a:ln w="15240">
            <a:solidFill>
              <a:srgbClr val="B8C4D4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726680" y="1481328"/>
            <a:ext cx="1298448" cy="868680"/>
          </a:xfrm>
          <a:prstGeom prst="roundRect">
            <a:avLst>
              <a:gd name="adj" fmla="val 7368"/>
            </a:avLst>
          </a:prstGeom>
          <a:solidFill>
            <a:srgbClr val="E8F0FE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0" y="1517904"/>
            <a:ext cx="120700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80" b="1" dirty="0">
                <a:solidFill>
                  <a:srgbClr val="10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</a:t>
            </a:r>
            <a:endParaRPr lang="en-US" sz="98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80" b="1" dirty="0">
                <a:solidFill>
                  <a:srgbClr val="10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(6개 상태)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9025128" y="1920240"/>
            <a:ext cx="146304" cy="0"/>
          </a:xfrm>
          <a:prstGeom prst="line">
            <a:avLst/>
          </a:prstGeom>
          <a:noFill/>
          <a:ln w="15240">
            <a:solidFill>
              <a:srgbClr val="B8C4D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171432" y="1481328"/>
            <a:ext cx="1298448" cy="868680"/>
          </a:xfrm>
          <a:prstGeom prst="roundRect">
            <a:avLst>
              <a:gd name="adj" fmla="val 7368"/>
            </a:avLst>
          </a:prstGeom>
          <a:solidFill>
            <a:srgbClr val="E8F0FE"/>
          </a:solidFill>
          <a:ln/>
        </p:spPr>
      </p:sp>
      <p:sp>
        <p:nvSpPr>
          <p:cNvPr id="23" name="Text 21"/>
          <p:cNvSpPr/>
          <p:nvPr/>
        </p:nvSpPr>
        <p:spPr>
          <a:xfrm>
            <a:off x="9217152" y="1517904"/>
            <a:ext cx="120700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80" b="1" dirty="0">
                <a:solidFill>
                  <a:srgbClr val="10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수용 검사</a:t>
            </a:r>
            <a:endParaRPr lang="en-US" sz="98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80" b="1" dirty="0">
                <a:solidFill>
                  <a:srgbClr val="10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(§11)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10469880" y="1920240"/>
            <a:ext cx="146304" cy="0"/>
          </a:xfrm>
          <a:prstGeom prst="line">
            <a:avLst/>
          </a:prstGeom>
          <a:noFill/>
          <a:ln w="15240">
            <a:solidFill>
              <a:srgbClr val="B8C4D4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10616184" y="1481328"/>
            <a:ext cx="1298448" cy="868680"/>
          </a:xfrm>
          <a:prstGeom prst="roundRect">
            <a:avLst>
              <a:gd name="adj" fmla="val 7368"/>
            </a:avLst>
          </a:prstGeom>
          <a:solidFill>
            <a:srgbClr val="1856C9"/>
          </a:solidFill>
          <a:ln/>
        </p:spPr>
      </p:sp>
      <p:sp>
        <p:nvSpPr>
          <p:cNvPr id="26" name="Text 24"/>
          <p:cNvSpPr/>
          <p:nvPr/>
        </p:nvSpPr>
        <p:spPr>
          <a:xfrm>
            <a:off x="10661904" y="1517904"/>
            <a:ext cx="120700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원자적 배포</a:t>
            </a:r>
            <a:endParaRPr lang="en-US" sz="98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(포인터 교체)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502920" y="2743200"/>
            <a:ext cx="269748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7EC"/>
            </a:solidFill>
            <a:prstDash val="solid"/>
          </a:ln>
          <a:effectLst>
            <a:outerShdw sx="100000" sy="100000" kx="0" ky="0" algn="bl" rotWithShape="0" blurRad="88900" dist="25400" dir="5400000">
              <a:srgbClr val="B9C2CE">
                <a:alpha val="3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12648" y="2852928"/>
            <a:ext cx="2478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56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95,793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612648" y="3419856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적재 레코드 (2026-02)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12648" y="3675888"/>
            <a:ext cx="2478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행수 일치 · URL 보존 100% · record_id 중복 0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364992" y="2743200"/>
            <a:ext cx="269748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7EC"/>
            </a:solidFill>
            <a:prstDash val="solid"/>
          </a:ln>
          <a:effectLst>
            <a:outerShdw sx="100000" sy="100000" kx="0" ky="0" algn="bl" rotWithShape="0" blurRad="88900" dist="25400" dir="5400000">
              <a:srgbClr val="B9C2CE">
                <a:alpha val="3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474720" y="2852928"/>
            <a:ext cx="2478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8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0.9999</a:t>
            </a:r>
            <a:endParaRPr lang="en-US" sz="3000" dirty="0"/>
          </a:p>
        </p:txBody>
      </p:sp>
      <p:sp>
        <p:nvSpPr>
          <p:cNvPr id="33" name="Text 31"/>
          <p:cNvSpPr/>
          <p:nvPr/>
        </p:nvSpPr>
        <p:spPr>
          <a:xfrm>
            <a:off x="3474720" y="3419856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QI_MMI → DM-0 (참고)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3474720" y="3675888"/>
            <a:ext cx="2478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표준 MMI 4지표 D5-03·D6-01·D7-01·D7-02, 임계 0.7 (aird-mmi-v1.1)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227064" y="2743200"/>
            <a:ext cx="269748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7EC"/>
            </a:solidFill>
            <a:prstDash val="solid"/>
          </a:ln>
          <a:effectLst>
            <a:outerShdw sx="100000" sy="100000" kx="0" ky="0" algn="bl" rotWithShape="0" blurRad="88900" dist="25400" dir="5400000">
              <a:srgbClr val="B9C2CE">
                <a:alpha val="3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336792" y="2852928"/>
            <a:ext cx="2478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8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0건</a:t>
            </a:r>
            <a:endParaRPr lang="en-US" sz="3000" dirty="0"/>
          </a:p>
        </p:txBody>
      </p:sp>
      <p:sp>
        <p:nvSpPr>
          <p:cNvPr id="37" name="Text 35"/>
          <p:cNvSpPr/>
          <p:nvPr/>
        </p:nvSpPr>
        <p:spPr>
          <a:xfrm>
            <a:off x="6336792" y="3419856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SHACL 치명 오류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336792" y="3675888"/>
            <a:ext cx="2478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카탈로그 노드 + 표본 500 검증, 전수 구조 검사 병행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9089136" y="2743200"/>
            <a:ext cx="2596896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7EC"/>
            </a:solidFill>
            <a:prstDash val="solid"/>
          </a:ln>
          <a:effectLst>
            <a:outerShdw sx="100000" sy="100000" kx="0" ky="0" algn="bl" rotWithShape="0" blurRad="88900" dist="25400" dir="5400000">
              <a:srgbClr val="B9C2CE">
                <a:alpha val="30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9198864" y="285292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56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16종</a:t>
            </a:r>
            <a:endParaRPr lang="en-US" sz="3000" dirty="0"/>
          </a:p>
        </p:txBody>
      </p:sp>
      <p:sp>
        <p:nvSpPr>
          <p:cNvPr id="41" name="Text 39"/>
          <p:cNvSpPr/>
          <p:nvPr/>
        </p:nvSpPr>
        <p:spPr>
          <a:xfrm>
            <a:off x="9198864" y="3419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 규칙 레지스트리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9198864" y="367588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rule-id·버전·정의·발효일 공개, 전 응답에 버전 표기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02920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 중 내린 판정 규칙 (부속 명세 확정 대상)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502920" y="4910328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4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001768"/>
            <a:ext cx="201168" cy="201168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1005840" y="4837176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목록키 이중 등재 22건</a:t>
            </a:r>
            <a:endParaRPr lang="en-US" sz="1350" dirty="0"/>
          </a:p>
        </p:txBody>
      </p:sp>
      <p:sp>
        <p:nvSpPr>
          <p:cNvPr id="47" name="Text 44"/>
          <p:cNvSpPr/>
          <p:nvPr/>
        </p:nvSpPr>
        <p:spPr>
          <a:xfrm>
            <a:off x="1005840" y="5093208"/>
            <a:ext cx="5074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FILE/API 두 유형으로 등재된 동일 목록키 → {목록키}-{유형}으로 분리 보존, DUPLICATE_LIST_KEY 이슈 관찰 (record-identity-v1.0)</a:t>
            </a:r>
            <a:endParaRPr lang="en-US" sz="1150" dirty="0"/>
          </a:p>
        </p:txBody>
      </p:sp>
      <p:sp>
        <p:nvSpPr>
          <p:cNvPr id="48" name="Shape 45"/>
          <p:cNvSpPr/>
          <p:nvPr/>
        </p:nvSpPr>
        <p:spPr>
          <a:xfrm>
            <a:off x="502920" y="5888736"/>
            <a:ext cx="384048" cy="384048"/>
          </a:xfrm>
          <a:prstGeom prst="ellipse">
            <a:avLst/>
          </a:prstGeom>
          <a:solidFill>
            <a:srgbClr val="FFF3DE"/>
          </a:solidFill>
          <a:ln/>
        </p:spPr>
      </p:sp>
      <p:pic>
        <p:nvPicPr>
          <p:cNvPr id="4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5980176"/>
            <a:ext cx="201168" cy="201168"/>
          </a:xfrm>
          <a:prstGeom prst="rect">
            <a:avLst/>
          </a:prstGeom>
        </p:spPr>
      </p:pic>
      <p:sp>
        <p:nvSpPr>
          <p:cNvPr id="50" name="Text 46"/>
          <p:cNvSpPr/>
          <p:nvPr/>
        </p:nvSpPr>
        <p:spPr>
          <a:xfrm>
            <a:off x="1005840" y="5815584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계통적 이슈 패턴 축약</a:t>
            </a:r>
            <a:endParaRPr lang="en-US" sz="1350" dirty="0"/>
          </a:p>
        </p:txBody>
      </p:sp>
      <p:sp>
        <p:nvSpPr>
          <p:cNvPr id="51" name="Text 47"/>
          <p:cNvSpPr/>
          <p:nvPr/>
        </p:nvSpPr>
        <p:spPr>
          <a:xfrm>
            <a:off x="1005840" y="6071616"/>
            <a:ext cx="5074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전화번호 백틱이 전 행의 99.6%에서 발견 — 행별이 아닌 카탈로그 수준 관찰 1건으로 축약 (이슈 124건으로 정리)</a:t>
            </a:r>
            <a:endParaRPr lang="en-US" sz="1150" dirty="0"/>
          </a:p>
        </p:txBody>
      </p:sp>
      <p:sp>
        <p:nvSpPr>
          <p:cNvPr id="52" name="Shape 48"/>
          <p:cNvSpPr/>
          <p:nvPr/>
        </p:nvSpPr>
        <p:spPr>
          <a:xfrm>
            <a:off x="6400800" y="4910328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5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5001768"/>
            <a:ext cx="201168" cy="201168"/>
          </a:xfrm>
          <a:prstGeom prst="rect">
            <a:avLst/>
          </a:prstGeom>
        </p:spPr>
      </p:pic>
      <p:sp>
        <p:nvSpPr>
          <p:cNvPr id="54" name="Text 49"/>
          <p:cNvSpPr/>
          <p:nvPr/>
        </p:nvSpPr>
        <p:spPr>
          <a:xfrm>
            <a:off x="6903720" y="483717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지역 매칭 근거 수준</a:t>
            </a:r>
            <a:endParaRPr lang="en-US" sz="1350" dirty="0"/>
          </a:p>
        </p:txBody>
      </p:sp>
      <p:sp>
        <p:nvSpPr>
          <p:cNvPr id="55" name="Text 50"/>
          <p:cNvSpPr/>
          <p:nvPr/>
        </p:nvSpPr>
        <p:spPr>
          <a:xfrm>
            <a:off x="6903720" y="5093208"/>
            <a:ext cx="4800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EXPLICIT_SPATIAL(0.95) &gt; 제목(0.8) &gt; 기관(0.6) &gt; 설명(0.5) 추론, 동음이의(광주) 감점 — 공간범위 기재율 5.6% 실측 대응</a:t>
            </a:r>
            <a:endParaRPr lang="en-US" sz="1150" dirty="0"/>
          </a:p>
        </p:txBody>
      </p:sp>
      <p:sp>
        <p:nvSpPr>
          <p:cNvPr id="56" name="Shape 51"/>
          <p:cNvSpPr/>
          <p:nvPr/>
        </p:nvSpPr>
        <p:spPr>
          <a:xfrm>
            <a:off x="6400800" y="5888736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5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5980176"/>
            <a:ext cx="201168" cy="201168"/>
          </a:xfrm>
          <a:prstGeom prst="rect">
            <a:avLst/>
          </a:prstGeom>
        </p:spPr>
      </p:pic>
      <p:sp>
        <p:nvSpPr>
          <p:cNvPr id="58" name="Text 52"/>
          <p:cNvSpPr/>
          <p:nvPr/>
        </p:nvSpPr>
        <p:spPr>
          <a:xfrm>
            <a:off x="6903720" y="5815584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최신성은 목록 수준 판정</a:t>
            </a:r>
            <a:endParaRPr lang="en-US" sz="1350" dirty="0"/>
          </a:p>
        </p:txBody>
      </p:sp>
      <p:sp>
        <p:nvSpPr>
          <p:cNvPr id="59" name="Text 53"/>
          <p:cNvSpPr/>
          <p:nvPr/>
        </p:nvSpPr>
        <p:spPr>
          <a:xfrm>
            <a:off x="6903720" y="6071616"/>
            <a:ext cx="4800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수정일 × 정규화 주기로 FRESH/POSSIBLY_STALE/UNKNOWN — 실데이터 최신성이 아님을 명시 (freshness-v1.0)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856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2 · MCP + REST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84632" y="530352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5+1 · Prompt 2 · Resource 4 — 하나의 판단 엔진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3566160" cy="1078992"/>
          </a:xfrm>
          <a:prstGeom prst="roundRect">
            <a:avLst>
              <a:gd name="adj" fmla="val 5932"/>
            </a:avLst>
          </a:prstGeom>
          <a:solidFill>
            <a:srgbClr val="F7F9FC"/>
          </a:solidFill>
          <a:ln w="12700">
            <a:solidFill>
              <a:srgbClr val="E3E7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572768"/>
            <a:ext cx="3273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56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search_datasets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9224" y="1865376"/>
            <a:ext cx="32735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키워드+필터 검색, BM25 랭킹 메타·지역 근거 수준 동반, 커서 페이징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06240" y="1481328"/>
            <a:ext cx="3566160" cy="1078992"/>
          </a:xfrm>
          <a:prstGeom prst="roundRect">
            <a:avLst>
              <a:gd name="adj" fmla="val 5932"/>
            </a:avLst>
          </a:prstGeom>
          <a:solidFill>
            <a:srgbClr val="F7F9FC"/>
          </a:solidFill>
          <a:ln w="12700">
            <a:solidFill>
              <a:srgbClr val="E3E7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52544" y="1572768"/>
            <a:ext cx="3273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56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get_dataset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352544" y="1865376"/>
            <a:ext cx="32735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4개 뷰: card(판단 요약) · normalized · source(원본) · jsonld(정본)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2688336"/>
            <a:ext cx="3566160" cy="1078992"/>
          </a:xfrm>
          <a:prstGeom prst="roundRect">
            <a:avLst>
              <a:gd name="adj" fmla="val 5932"/>
            </a:avLst>
          </a:prstGeom>
          <a:solidFill>
            <a:srgbClr val="F7F9FC"/>
          </a:solidFill>
          <a:ln w="12700">
            <a:solidFill>
              <a:srgbClr val="E3E7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" y="2779776"/>
            <a:ext cx="3273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56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compare_datasets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9224" y="3072384"/>
            <a:ext cx="32735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최대 5개 구조화된 사실 비교 — 해석 없음, 목적별 의미는 호스트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206240" y="2688336"/>
            <a:ext cx="3566160" cy="1078992"/>
          </a:xfrm>
          <a:prstGeom prst="roundRect">
            <a:avLst>
              <a:gd name="adj" fmla="val 5932"/>
            </a:avLst>
          </a:prstGeom>
          <a:solidFill>
            <a:srgbClr val="F7F9FC"/>
          </a:solidFill>
          <a:ln w="12700">
            <a:solidFill>
              <a:srgbClr val="E3E7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52544" y="2779776"/>
            <a:ext cx="3273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56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get_catalog_changes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352544" y="3072384"/>
            <a:ext cx="32735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ADDED/MODIFIED/MISSING/REAPPEARED/IDENTITY/WITHDRAWN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2920" y="3895344"/>
            <a:ext cx="3566160" cy="1078992"/>
          </a:xfrm>
          <a:prstGeom prst="roundRect">
            <a:avLst>
              <a:gd name="adj" fmla="val 5932"/>
            </a:avLst>
          </a:prstGeom>
          <a:solidFill>
            <a:srgbClr val="F7F9FC"/>
          </a:solidFill>
          <a:ln w="12700">
            <a:solidFill>
              <a:srgbClr val="E3E7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" y="3986784"/>
            <a:ext cx="3273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56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get_catalog_stats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49224" y="4279392"/>
            <a:ext cx="32735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theme·org·format·완전성(프로파일별 히스토그램)·listType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206240" y="3895344"/>
            <a:ext cx="3566160" cy="1078992"/>
          </a:xfrm>
          <a:prstGeom prst="roundRect">
            <a:avLst>
              <a:gd name="adj" fmla="val 5932"/>
            </a:avLst>
          </a:prstGeom>
          <a:solidFill>
            <a:srgbClr val="F7F9FC"/>
          </a:solidFill>
          <a:ln w="12700">
            <a:solidFill>
              <a:srgbClr val="E3E7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52544" y="3986784"/>
            <a:ext cx="3273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56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get_context (호환)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352544" y="4279392"/>
            <a:ext cx="32735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 미지원 클라이언트용 서비스 개요·규칙 요약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046720" y="148132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공통 계약 (§4.3)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8046720" y="1828800"/>
            <a:ext cx="3657600" cy="1371600"/>
          </a:xfrm>
          <a:prstGeom prst="roundRect">
            <a:avLst>
              <a:gd name="adj" fmla="val 4667"/>
            </a:avLst>
          </a:prstGeom>
          <a:solidFill>
            <a:srgbClr val="10224E"/>
          </a:solidFill>
          <a:ln/>
        </p:spPr>
      </p:sp>
      <p:sp>
        <p:nvSpPr>
          <p:cNvPr id="24" name="Text 22"/>
          <p:cNvSpPr/>
          <p:nvPr/>
        </p:nvSpPr>
        <p:spPr>
          <a:xfrm>
            <a:off x="8183880" y="1920240"/>
            <a:ext cx="3383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data,
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E3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meta: { sourceSnapshot,
    processedAt, schemaVersion,
    ruleVersions[] },
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warnings[] }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046720" y="3447288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3538728"/>
            <a:ext cx="201168" cy="201168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8549640" y="3374136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오류 모델 9종 일관 구조</a:t>
            </a:r>
            <a:endParaRPr lang="en-US" sz="1350" dirty="0"/>
          </a:p>
        </p:txBody>
      </p:sp>
      <p:sp>
        <p:nvSpPr>
          <p:cNvPr id="28" name="Text 25"/>
          <p:cNvSpPr/>
          <p:nvPr/>
        </p:nvSpPr>
        <p:spPr>
          <a:xfrm>
            <a:off x="8549640" y="3630168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RATE_LIMITED 포함(설계 검토에서 식별한 §4.3 보완) — HTTP 상태 매핑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8046720" y="4224528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4315968"/>
            <a:ext cx="201168" cy="201168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8549640" y="4151376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3중 제공</a:t>
            </a:r>
            <a:endParaRPr lang="en-US" sz="1350" dirty="0"/>
          </a:p>
        </p:txBody>
      </p:sp>
      <p:sp>
        <p:nvSpPr>
          <p:cNvPr id="32" name="Text 28"/>
          <p:cNvSpPr/>
          <p:nvPr/>
        </p:nvSpPr>
        <p:spPr>
          <a:xfrm>
            <a:off x="8549640" y="4407408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Prompt + Tool 설명 내장 + 공개 문서(build-data-plan-v1.0.md)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8046720" y="5001768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5093208"/>
            <a:ext cx="201168" cy="201168"/>
          </a:xfrm>
          <a:prstGeom prst="rect">
            <a:avLst/>
          </a:prstGeom>
        </p:spPr>
      </p:pic>
      <p:sp>
        <p:nvSpPr>
          <p:cNvPr id="35" name="Text 30"/>
          <p:cNvSpPr/>
          <p:nvPr/>
        </p:nvSpPr>
        <p:spPr>
          <a:xfrm>
            <a:off x="8549640" y="4928616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 4종</a:t>
            </a:r>
            <a:endParaRPr lang="en-US" sz="1350" dirty="0"/>
          </a:p>
        </p:txBody>
      </p:sp>
      <p:sp>
        <p:nvSpPr>
          <p:cNvPr id="36" name="Text 31"/>
          <p:cNvSpPr/>
          <p:nvPr/>
        </p:nvSpPr>
        <p:spPr>
          <a:xfrm>
            <a:off x="8549640" y="5184648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 레지스트리 · JSON-LD Context · SHACL 셰이프 · Prompt 문서 (§7 URI)</a:t>
            </a:r>
            <a:endParaRPr lang="en-US" sz="1150" dirty="0"/>
          </a:p>
        </p:txBody>
      </p:sp>
      <p:sp>
        <p:nvSpPr>
          <p:cNvPr id="37" name="Shape 32"/>
          <p:cNvSpPr/>
          <p:nvPr/>
        </p:nvSpPr>
        <p:spPr>
          <a:xfrm>
            <a:off x="8046720" y="5779008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5870448"/>
            <a:ext cx="201168" cy="201168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8549640" y="5705856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REST는 같은 Service 사용</a:t>
            </a:r>
            <a:endParaRPr lang="en-US" sz="1350" dirty="0"/>
          </a:p>
        </p:txBody>
      </p:sp>
      <p:sp>
        <p:nvSpPr>
          <p:cNvPr id="40" name="Text 34"/>
          <p:cNvSpPr/>
          <p:nvPr/>
        </p:nvSpPr>
        <p:spPr>
          <a:xfrm>
            <a:off x="8549640" y="5961888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판단 로직 이중화 금지(§2) — 웹은 REST, 에이전트는 MCP로 동일 엔진 접근</a:t>
            </a:r>
            <a:endParaRPr lang="en-US" sz="1150" dirty="0"/>
          </a:p>
        </p:txBody>
      </p:sp>
      <p:sp>
        <p:nvSpPr>
          <p:cNvPr id="41" name="Text 35"/>
          <p:cNvSpPr/>
          <p:nvPr/>
        </p:nvSpPr>
        <p:spPr>
          <a:xfrm>
            <a:off x="502920" y="5257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보안(§10) — 목록 필드는 참조 데이터이며 지시문이 아니다: Tool 설명·서버 instructions에 명시, 원천 텍스트 주입 방어</a:t>
            </a:r>
            <a:endParaRPr lang="en-US" sz="1100" dirty="0"/>
          </a:p>
        </p:txBody>
      </p:sp>
      <p:sp>
        <p:nvSpPr>
          <p:cNvPr id="42" name="Shape 36"/>
          <p:cNvSpPr/>
          <p:nvPr/>
        </p:nvSpPr>
        <p:spPr>
          <a:xfrm>
            <a:off x="502920" y="5715000"/>
            <a:ext cx="7315200" cy="777240"/>
          </a:xfrm>
          <a:prstGeom prst="roundRect">
            <a:avLst>
              <a:gd name="adj" fmla="val 8235"/>
            </a:avLst>
          </a:prstGeom>
          <a:solidFill>
            <a:srgbClr val="E8F0FE"/>
          </a:solidFill>
          <a:ln/>
        </p:spPr>
      </p:sp>
      <p:sp>
        <p:nvSpPr>
          <p:cNvPr id="43" name="Text 37"/>
          <p:cNvSpPr/>
          <p:nvPr/>
        </p:nvSpPr>
        <p:spPr>
          <a:xfrm>
            <a:off x="685800" y="5788152"/>
            <a:ext cx="6949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.mcp.json 등록 완료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D5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이 프로젝트에서 Claude Code를 열면 datanav 서버가 자동 인식됩니다. "고령자 의료 접근성을 분석하고 싶어" 같은 목적 질의는 호스트가 Tool 조합으로 수행합니다.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856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84632" y="530352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 결과 — 수용 기준 · 골든셋 · diff 실전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골든셋 v0 실측 (BM25, 스냅샷 2026-02, 질의 50개)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219456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7EC"/>
            </a:solidFill>
            <a:prstDash val="solid"/>
          </a:ln>
          <a:effectLst>
            <a:outerShdw sx="100000" sy="100000" kx="0" ky="0" algn="bl" rotWithShape="0" blurRad="88900" dist="25400" dir="5400000">
              <a:srgbClr val="B9C2CE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12648" y="1938528"/>
            <a:ext cx="19751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56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0.878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12648" y="2505456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Precision@10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12648" y="276148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상위 10건 중 관련 비율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862072" y="1828800"/>
            <a:ext cx="219456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7EC"/>
            </a:solidFill>
            <a:prstDash val="solid"/>
          </a:ln>
          <a:effectLst>
            <a:outerShdw sx="100000" sy="100000" kx="0" ky="0" algn="bl" rotWithShape="0" blurRad="88900" dist="25400" dir="5400000">
              <a:srgbClr val="B9C2CE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971800" y="1938528"/>
            <a:ext cx="19751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56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0.884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971800" y="2505456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Recall@10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971800" y="276148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상위 10건의 관련 데이터 회수율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221224" y="1828800"/>
            <a:ext cx="219456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7EC"/>
            </a:solidFill>
            <a:prstDash val="solid"/>
          </a:ln>
          <a:effectLst>
            <a:outerShdw sx="100000" sy="100000" kx="0" ky="0" algn="bl" rotWithShape="0" blurRad="88900" dist="25400" dir="5400000">
              <a:srgbClr val="B9C2CE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330952" y="1938528"/>
            <a:ext cx="19751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56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0.906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5330952" y="2505456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330952" y="276148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순위 품질 (1.0 = 이상적)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580376" y="1828800"/>
            <a:ext cx="219456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7EC"/>
            </a:solidFill>
            <a:prstDash val="solid"/>
          </a:ln>
          <a:effectLst>
            <a:outerShdw sx="100000" sy="100000" kx="0" ky="0" algn="bl" rotWithShape="0" blurRad="88900" dist="25400" dir="5400000">
              <a:srgbClr val="B9C2CE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690104" y="1938528"/>
            <a:ext cx="19751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8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· 100%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7690104" y="2505456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0건 비율 · 성공률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690104" y="276148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 질의 결과 존재, 관련 1건 이상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02920" y="3429000"/>
            <a:ext cx="9272016" cy="658368"/>
          </a:xfrm>
          <a:prstGeom prst="roundRect">
            <a:avLst>
              <a:gd name="adj" fmla="val 9722"/>
            </a:avLst>
          </a:prstGeom>
          <a:solidFill>
            <a:srgbClr val="FFF7E6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3502152"/>
            <a:ext cx="8961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단서: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5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관련성 판정이 제목 정규식 기반 초판(인간 검수 전)이라 수치가 후할 수 있음. 복합어 질의의 AND 검색 약점이 확인됨 — "유기동물 보호소" NDCG 0.25, "미세먼지 측정" 0.32. 골든셋 검수 후 임베딩 도입 여부 판단.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02920" y="4343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외 검증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502920" y="4818888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4910328"/>
            <a:ext cx="201168" cy="201168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1005840" y="4745736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수용 기준 테스트 26/26 통과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1005840" y="500176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정규화·완전성 프로파일·지역 근거·diff 6상태·페이징 무중복·4뷰 정합·오류 일관성·SHACL 위반 탐지·DM-0 임계값 (§11)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02920" y="5824728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5916168"/>
            <a:ext cx="201168" cy="201168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1005840" y="5751576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 파이프라인 실전 검증</a:t>
            </a:r>
            <a:endParaRPr lang="en-US" sz="1350" dirty="0"/>
          </a:p>
        </p:txBody>
      </p:sp>
      <p:sp>
        <p:nvSpPr>
          <p:cNvPr id="31" name="Text 27"/>
          <p:cNvSpPr/>
          <p:nvPr/>
        </p:nvSpPr>
        <p:spPr>
          <a:xfrm>
            <a:off x="1005840" y="600760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합성 2026-03 스냅샷: ADDED 10 · MODIFIED 50 · IDENTITY 5 · MISSING 30 — 판정 전부 기대치와 일치, 검증 후 원상 복구</a:t>
            </a:r>
            <a:endParaRPr lang="en-US" sz="1150" dirty="0"/>
          </a:p>
        </p:txBody>
      </p:sp>
      <p:sp>
        <p:nvSpPr>
          <p:cNvPr id="32" name="Shape 28"/>
          <p:cNvSpPr/>
          <p:nvPr/>
        </p:nvSpPr>
        <p:spPr>
          <a:xfrm>
            <a:off x="6400800" y="4818888"/>
            <a:ext cx="384048" cy="384048"/>
          </a:xfrm>
          <a:prstGeom prst="ellipse">
            <a:avLst/>
          </a:prstGeom>
          <a:solidFill>
            <a:srgbClr val="1E8E4E"/>
          </a:solidFill>
          <a:ln/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4910328"/>
            <a:ext cx="201168" cy="201168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903720" y="4745736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브라우저 실기 확인</a:t>
            </a:r>
            <a:endParaRPr lang="en-US" sz="1350" dirty="0"/>
          </a:p>
        </p:txBody>
      </p:sp>
      <p:sp>
        <p:nvSpPr>
          <p:cNvPr id="35" name="Text 30"/>
          <p:cNvSpPr/>
          <p:nvPr/>
        </p:nvSpPr>
        <p:spPr>
          <a:xfrm>
            <a:off x="6903720" y="5001768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검색→프로필→비교→변경 피드 전 화면 동작·표기(스냅샷·규칙 버전·면책) 확인</a:t>
            </a:r>
            <a:endParaRPr lang="en-US" sz="1150" dirty="0"/>
          </a:p>
        </p:txBody>
      </p:sp>
      <p:sp>
        <p:nvSpPr>
          <p:cNvPr id="36" name="Shape 31"/>
          <p:cNvSpPr/>
          <p:nvPr/>
        </p:nvSpPr>
        <p:spPr>
          <a:xfrm>
            <a:off x="6400800" y="5824728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3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5916168"/>
            <a:ext cx="201168" cy="201168"/>
          </a:xfrm>
          <a:prstGeom prst="rect">
            <a:avLst/>
          </a:prstGeom>
        </p:spPr>
      </p:pic>
      <p:sp>
        <p:nvSpPr>
          <p:cNvPr id="38" name="Text 32"/>
          <p:cNvSpPr/>
          <p:nvPr/>
        </p:nvSpPr>
        <p:spPr>
          <a:xfrm>
            <a:off x="6903720" y="5751576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원자적 배포 실검증</a:t>
            </a:r>
            <a:endParaRPr lang="en-US" sz="1350" dirty="0"/>
          </a:p>
        </p:txBody>
      </p:sp>
      <p:sp>
        <p:nvSpPr>
          <p:cNvPr id="39" name="Text 33"/>
          <p:cNvSpPr/>
          <p:nvPr/>
        </p:nvSpPr>
        <p:spPr>
          <a:xfrm>
            <a:off x="6903720" y="6007608"/>
            <a:ext cx="4709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재빌드 시 실행 중 API가 포인터 교체를 감지해 무중단 전환 (이슈 95,555건→124건 정리 배포)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856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1 /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84632" y="530352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검색 — 필터·근거·랭킹의 투명한 표시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700016" y="1545336"/>
            <a:ext cx="7059168" cy="4453128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3E7EC"/>
            </a:solidFill>
            <a:prstDash val="solid"/>
          </a:ln>
          <a:effectLst>
            <a:outerShdw sx="100000" sy="100000" kx="0" ky="0" algn="bl" rotWithShape="0" blurRad="127000" dist="38100" dir="5400000">
              <a:srgbClr val="9AA6B5">
                <a:alpha val="35000"/>
              </a:srgbClr>
            </a:outerShdw>
          </a:effectLst>
        </p:spPr>
      </p:sp>
      <p:pic>
        <p:nvPicPr>
          <p:cNvPr id="5" name="Image 0" descr="/private/tmp/claude-501/-Users-haklaekim-Documents-dev-2026-public-data-mcp/01818360-d7f0-47ca-9cda-901b4b890398/scratchpad/shots/2-search-resul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1600200"/>
            <a:ext cx="6949440" cy="4343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09928"/>
            <a:ext cx="201168" cy="20116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05840" y="154533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키워드 검색 + 예시 질문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1005840" y="1801368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BM25 랭킹. 결과 상단에 랭킹 방식·규칙 버전(ranking-bm25-v1.0)을 항상 표기해 재현성을 보장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502920" y="2688336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779776"/>
            <a:ext cx="201168" cy="2011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05840" y="2615184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5종 필터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1005840" y="2871216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목록유형(FILE/API/STD) · 지역(시도 17) · 업데이트 주기 · 포맷 · "추론 지역 포함" 토글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502920" y="3758184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3849624"/>
            <a:ext cx="201168" cy="20116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005840" y="3685032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지역 근거 배지</a:t>
            </a:r>
            <a:endParaRPr lang="en-US" sz="1350" dirty="0"/>
          </a:p>
        </p:txBody>
      </p:sp>
      <p:sp>
        <p:nvSpPr>
          <p:cNvPr id="17" name="Text 11"/>
          <p:cNvSpPr/>
          <p:nvPr/>
        </p:nvSpPr>
        <p:spPr>
          <a:xfrm>
            <a:off x="1005840" y="3941064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공간범위 명시는 초록, 제목·기관 추론은 회색+물음표(울산?) — 근거 수준과 신뢰도를 숨기지 않음</a:t>
            </a:r>
            <a:endParaRPr lang="en-US" sz="1150" dirty="0"/>
          </a:p>
        </p:txBody>
      </p:sp>
      <p:sp>
        <p:nvSpPr>
          <p:cNvPr id="18" name="Shape 12"/>
          <p:cNvSpPr/>
          <p:nvPr/>
        </p:nvSpPr>
        <p:spPr>
          <a:xfrm>
            <a:off x="502920" y="4828032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4919472"/>
            <a:ext cx="201168" cy="201168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005840" y="475488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완전성 바</a:t>
            </a:r>
            <a:endParaRPr lang="en-US" sz="1350" dirty="0"/>
          </a:p>
        </p:txBody>
      </p:sp>
      <p:sp>
        <p:nvSpPr>
          <p:cNvPr id="21" name="Text 14"/>
          <p:cNvSpPr/>
          <p:nvPr/>
        </p:nvSpPr>
        <p:spPr>
          <a:xfrm>
            <a:off x="1005840" y="5010912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목록 메타데이터 완전성을 유형별 프로파일 기준으로 시각화(막대+%)</a:t>
            </a:r>
            <a:endParaRPr lang="en-US" sz="1150" dirty="0"/>
          </a:p>
        </p:txBody>
      </p:sp>
      <p:sp>
        <p:nvSpPr>
          <p:cNvPr id="22" name="Shape 15"/>
          <p:cNvSpPr/>
          <p:nvPr/>
        </p:nvSpPr>
        <p:spPr>
          <a:xfrm>
            <a:off x="502920" y="5760720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" y="5852160"/>
            <a:ext cx="201168" cy="201168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1005840" y="568756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포털 원문 링크</a:t>
            </a:r>
            <a:endParaRPr lang="en-US" sz="1350" dirty="0"/>
          </a:p>
        </p:txBody>
      </p:sp>
      <p:sp>
        <p:nvSpPr>
          <p:cNvPr id="25" name="Text 17"/>
          <p:cNvSpPr/>
          <p:nvPr/>
        </p:nvSpPr>
        <p:spPr>
          <a:xfrm>
            <a:off x="1005840" y="594360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행에서 공공데이터포털 원문으로 직행 — 활용 전환(포털 이동률)이 최우선 지표</a:t>
            </a:r>
            <a:endParaRPr lang="en-US" sz="1150" dirty="0"/>
          </a:p>
        </p:txBody>
      </p:sp>
      <p:sp>
        <p:nvSpPr>
          <p:cNvPr id="26" name="Shape 18"/>
          <p:cNvSpPr/>
          <p:nvPr/>
        </p:nvSpPr>
        <p:spPr>
          <a:xfrm>
            <a:off x="4754880" y="6080760"/>
            <a:ext cx="6949440" cy="502920"/>
          </a:xfrm>
          <a:prstGeom prst="roundRect">
            <a:avLst>
              <a:gd name="adj" fmla="val 12727"/>
            </a:avLst>
          </a:prstGeom>
          <a:solidFill>
            <a:srgbClr val="E8F0FE"/>
          </a:solidFill>
          <a:ln/>
        </p:spPr>
      </p:sp>
      <p:sp>
        <p:nvSpPr>
          <p:cNvPr id="27" name="Text 19"/>
          <p:cNvSpPr/>
          <p:nvPr/>
        </p:nvSpPr>
        <p:spPr>
          <a:xfrm>
            <a:off x="4937760" y="612648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5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우측 상단 상태 칩: 현재 스냅샷(2026-02) · 데이터 건수 · 분석 기준일을 모든 화면에서 상시 노출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856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2 /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84632" y="530352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데이터셋 프로필 — 판단용 카드 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700016" y="1545336"/>
            <a:ext cx="7059168" cy="4453128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3E7EC"/>
            </a:solidFill>
            <a:prstDash val="solid"/>
          </a:ln>
          <a:effectLst>
            <a:outerShdw sx="100000" sy="100000" kx="0" ky="0" algn="bl" rotWithShape="0" blurRad="127000" dist="38100" dir="5400000">
              <a:srgbClr val="9AA6B5">
                <a:alpha val="35000"/>
              </a:srgbClr>
            </a:outerShdw>
          </a:effectLst>
        </p:spPr>
      </p:sp>
      <p:pic>
        <p:nvPicPr>
          <p:cNvPr id="5" name="Image 0" descr="/private/tmp/claude-501/-Users-haklaekim-Documents-dev-2026-public-data-mcp/01818360-d7f0-47ca-9cda-901b4b890398/scratchpad/shots/3-profile-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1600200"/>
            <a:ext cx="6949440" cy="4343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09928"/>
            <a:ext cx="201168" cy="20116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05840" y="154533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판단에 필요한 요약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1005840" y="1801368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분류·포맷·주기·이용허락·등록/수정일·공간/시간범위·전체 행을 한 화면에 재구성 (card-projection-v1.0)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502920" y="2688336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779776"/>
            <a:ext cx="201168" cy="2011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05840" y="2615184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 판정 2종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1005840" y="2871216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완전성 81%(FILE 프로파일 기준) + 최신성 "갱신 지연 가능 · 수정 후 747일" — 판정 근거와 규칙 버전 동반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502920" y="3758184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3849624"/>
            <a:ext cx="201168" cy="20116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005840" y="3685032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포털 연결 박스</a:t>
            </a:r>
            <a:endParaRPr lang="en-US" sz="1350" dirty="0"/>
          </a:p>
        </p:txBody>
      </p:sp>
      <p:sp>
        <p:nvSpPr>
          <p:cNvPr id="17" name="Text 11"/>
          <p:cNvSpPr/>
          <p:nvPr/>
        </p:nvSpPr>
        <p:spPr>
          <a:xfrm>
            <a:off x="1005840" y="3941064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목록키 · 제공기관 · 목록 기준월 · 분석 기준일 · 원문 확인 링크(§2 공통 통제 원칙)</a:t>
            </a:r>
            <a:endParaRPr lang="en-US" sz="1150" dirty="0"/>
          </a:p>
        </p:txBody>
      </p:sp>
      <p:sp>
        <p:nvSpPr>
          <p:cNvPr id="18" name="Shape 12"/>
          <p:cNvSpPr/>
          <p:nvPr/>
        </p:nvSpPr>
        <p:spPr>
          <a:xfrm>
            <a:off x="502920" y="4828032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4919472"/>
            <a:ext cx="201168" cy="201168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005840" y="475488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 수준 고지</a:t>
            </a:r>
            <a:endParaRPr lang="en-US" sz="1350" dirty="0"/>
          </a:p>
        </p:txBody>
      </p:sp>
      <p:sp>
        <p:nvSpPr>
          <p:cNvPr id="21" name="Text 14"/>
          <p:cNvSpPr/>
          <p:nvPr/>
        </p:nvSpPr>
        <p:spPr>
          <a:xfrm>
            <a:off x="1005840" y="5010912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"목록 메타데이터만(CATALOG_METADATA_ONLY) — 실제 데이터 내용은 확인되지 않았습니다" 상시 표기</a:t>
            </a:r>
            <a:endParaRPr lang="en-US" sz="1150" dirty="0"/>
          </a:p>
        </p:txBody>
      </p:sp>
      <p:sp>
        <p:nvSpPr>
          <p:cNvPr id="22" name="Shape 15"/>
          <p:cNvSpPr/>
          <p:nvPr/>
        </p:nvSpPr>
        <p:spPr>
          <a:xfrm>
            <a:off x="502920" y="5897880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" y="5989320"/>
            <a:ext cx="201168" cy="201168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1005840" y="582472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하단 메타</a:t>
            </a:r>
            <a:endParaRPr lang="en-US" sz="1350" dirty="0"/>
          </a:p>
        </p:txBody>
      </p:sp>
      <p:sp>
        <p:nvSpPr>
          <p:cNvPr id="25" name="Text 17"/>
          <p:cNvSpPr/>
          <p:nvPr/>
        </p:nvSpPr>
        <p:spPr>
          <a:xfrm>
            <a:off x="1005840" y="608076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스냅샷과 적용된 규칙 버전 4종을 카드 하단에 명시 — 모든 화면 공통</a:t>
            </a:r>
            <a:endParaRPr lang="en-US" sz="1150" dirty="0"/>
          </a:p>
        </p:txBody>
      </p:sp>
      <p:sp>
        <p:nvSpPr>
          <p:cNvPr id="26" name="Shape 18"/>
          <p:cNvSpPr/>
          <p:nvPr/>
        </p:nvSpPr>
        <p:spPr>
          <a:xfrm>
            <a:off x="4754880" y="6080760"/>
            <a:ext cx="6949440" cy="502920"/>
          </a:xfrm>
          <a:prstGeom prst="roundRect">
            <a:avLst>
              <a:gd name="adj" fmla="val 12727"/>
            </a:avLst>
          </a:prstGeom>
          <a:solidFill>
            <a:srgbClr val="E8F0FE"/>
          </a:solidFill>
          <a:ln/>
        </p:spPr>
      </p:sp>
      <p:sp>
        <p:nvSpPr>
          <p:cNvPr id="27" name="Text 19"/>
          <p:cNvSpPr/>
          <p:nvPr/>
        </p:nvSpPr>
        <p:spPr>
          <a:xfrm>
            <a:off x="4937760" y="612648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5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이슈 관찰이 있는 데이터셋은 카드 상단에 "자동 탐지, 검수 전" 경고를 함께 표시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856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3 /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84632" y="530352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4개 뷰 — 카드·정규화·원본·JSON-LD 정본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700016" y="1545336"/>
            <a:ext cx="7059168" cy="4453128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3E7EC"/>
            </a:solidFill>
            <a:prstDash val="solid"/>
          </a:ln>
          <a:effectLst>
            <a:outerShdw sx="100000" sy="100000" kx="0" ky="0" algn="bl" rotWithShape="0" blurRad="127000" dist="38100" dir="5400000">
              <a:srgbClr val="9AA6B5">
                <a:alpha val="35000"/>
              </a:srgbClr>
            </a:outerShdw>
          </a:effectLst>
        </p:spPr>
      </p:sp>
      <p:pic>
        <p:nvPicPr>
          <p:cNvPr id="5" name="Image 0" descr="/private/tmp/claude-501/-Users-haklaekim-Documents-dev-2026-public-data-mcp/01818360-d7f0-47ca-9cda-901b4b890398/scratchpad/shots/4-profile-json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1600200"/>
            <a:ext cx="6949440" cy="4343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09928"/>
            <a:ext cx="201168" cy="20116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05840" y="154533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뷰 전환 탭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1005840" y="1801368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카드(판단) · 정규화(전체 필드) · 원본(CSV 필드·값 그대로) · JSON-LD(정본) — 4뷰 정합은 테스트로 보장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502920" y="2688336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779776"/>
            <a:ext cx="201168" cy="2011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05840" y="2615184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JSON-LD 정본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1005840" y="2871216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dcat:Dataset + kdp 확장. @id는 §7 확정 네임스페이스의 불변 URI (data.datahub.kr/projects/datanav/dataset/{목록키})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502920" y="3758184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3849624"/>
            <a:ext cx="201168" cy="20116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005840" y="3685032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Q-Tier·DM 부여 금지</a:t>
            </a:r>
            <a:endParaRPr lang="en-US" sz="1350" dirty="0"/>
          </a:p>
        </p:txBody>
      </p:sp>
      <p:sp>
        <p:nvSpPr>
          <p:cNvPr id="17" name="Text 11"/>
          <p:cNvSpPr/>
          <p:nvPr/>
        </p:nvSpPr>
        <p:spPr>
          <a:xfrm>
            <a:off x="1005840" y="3941064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kdp:qualityTier / diagnosticMaturity를 명시적 null로 유지 — 실데이터 진단 전 미부여 원칙(§3.1)을 데이터로 표현</a:t>
            </a:r>
            <a:endParaRPr lang="en-US" sz="1150" dirty="0"/>
          </a:p>
        </p:txBody>
      </p:sp>
      <p:sp>
        <p:nvSpPr>
          <p:cNvPr id="18" name="Shape 12"/>
          <p:cNvSpPr/>
          <p:nvPr/>
        </p:nvSpPr>
        <p:spPr>
          <a:xfrm>
            <a:off x="502920" y="4828032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4919472"/>
            <a:ext cx="201168" cy="201168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005840" y="475488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원본 추적성</a:t>
            </a:r>
            <a:endParaRPr lang="en-US" sz="1350" dirty="0"/>
          </a:p>
        </p:txBody>
      </p:sp>
      <p:sp>
        <p:nvSpPr>
          <p:cNvPr id="21" name="Text 14"/>
          <p:cNvSpPr/>
          <p:nvPr/>
        </p:nvSpPr>
        <p:spPr>
          <a:xfrm>
            <a:off x="1005840" y="5010912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원본 뷰는 목록개방현황 CSV의 필드·값을 무손실 보존 — 정규화 이전 값 검증 가능(수용 기준)</a:t>
            </a:r>
            <a:endParaRPr lang="en-US" sz="1150" dirty="0"/>
          </a:p>
        </p:txBody>
      </p:sp>
      <p:sp>
        <p:nvSpPr>
          <p:cNvPr id="22" name="Shape 15"/>
          <p:cNvSpPr/>
          <p:nvPr/>
        </p:nvSpPr>
        <p:spPr>
          <a:xfrm>
            <a:off x="4754880" y="6080760"/>
            <a:ext cx="6949440" cy="502920"/>
          </a:xfrm>
          <a:prstGeom prst="roundRect">
            <a:avLst>
              <a:gd name="adj" fmla="val 12727"/>
            </a:avLst>
          </a:prstGeom>
          <a:solidFill>
            <a:srgbClr val="E8F0FE"/>
          </a:solidFill>
          <a:ln/>
        </p:spPr>
      </p:sp>
      <p:sp>
        <p:nvSpPr>
          <p:cNvPr id="23" name="Text 16"/>
          <p:cNvSpPr/>
          <p:nvPr/>
        </p:nvSpPr>
        <p:spPr>
          <a:xfrm>
            <a:off x="4937760" y="612648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5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evidenceLevel: CATALOG_METADATA_ONLY, sourceSnapshot: 2026-02 — 정본에도 근거 수준이 새겨짐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856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4 / 4 · COMPARE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84632" y="530352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비교 — 구조화된 사실, 해석은 하지 않는다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700016" y="1545336"/>
            <a:ext cx="7059168" cy="4453128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3E7EC"/>
            </a:solidFill>
            <a:prstDash val="solid"/>
          </a:ln>
          <a:effectLst>
            <a:outerShdw sx="100000" sy="100000" kx="0" ky="0" algn="bl" rotWithShape="0" blurRad="127000" dist="38100" dir="5400000">
              <a:srgbClr val="9AA6B5">
                <a:alpha val="35000"/>
              </a:srgbClr>
            </a:outerShdw>
          </a:effectLst>
        </p:spPr>
      </p:sp>
      <p:pic>
        <p:nvPicPr>
          <p:cNvPr id="5" name="Image 0" descr="/private/tmp/claude-501/-Users-haklaekim-Documents-dev-2026-public-data-mcp/01818360-d7f0-47ca-9cda-901b4b890398/scratchpad/shots/5-comp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1600200"/>
            <a:ext cx="6949440" cy="4343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09928"/>
            <a:ext cx="201168" cy="20116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05840" y="154533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최대 5개 사실 비교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1005840" y="1801368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검색 결과에서 체크한 데이터셋을 표로 대조. 차이(differences)를 먼저, 공통 항목은 접어서 제공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502920" y="2688336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779776"/>
            <a:ext cx="201168" cy="2011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05840" y="2615184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무해석 원칙(§4.1)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1005840" y="2871216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상단 고지: "구조화된 사실 비교입니다. 목적별 의미 해석은 포함하지 않습니다" — 해석은 호스트/사용자의 몫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502920" y="3758184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3849624"/>
            <a:ext cx="201168" cy="20116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005840" y="3685032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판단 재료의 병치</a:t>
            </a:r>
            <a:endParaRPr lang="en-US" sz="1350" dirty="0"/>
          </a:p>
        </p:txBody>
      </p:sp>
      <p:sp>
        <p:nvSpPr>
          <p:cNvPr id="17" name="Text 11"/>
          <p:cNvSpPr/>
          <p:nvPr/>
        </p:nvSpPr>
        <p:spPr>
          <a:xfrm>
            <a:off x="1005840" y="3941064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vs API, 갱신 주기(반기 vs 미지정), 수정일, 완전성 점수, 키워드 차이가 한눈에 드러남</a:t>
            </a:r>
            <a:endParaRPr lang="en-US" sz="1150" dirty="0"/>
          </a:p>
        </p:txBody>
      </p:sp>
      <p:sp>
        <p:nvSpPr>
          <p:cNvPr id="18" name="Shape 12"/>
          <p:cNvSpPr/>
          <p:nvPr/>
        </p:nvSpPr>
        <p:spPr>
          <a:xfrm>
            <a:off x="502920" y="4828032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4919472"/>
            <a:ext cx="201168" cy="201168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005840" y="475488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프로필 연결</a:t>
            </a:r>
            <a:endParaRPr lang="en-US" sz="1350" dirty="0"/>
          </a:p>
        </p:txBody>
      </p:sp>
      <p:sp>
        <p:nvSpPr>
          <p:cNvPr id="21" name="Text 14"/>
          <p:cNvSpPr/>
          <p:nvPr/>
        </p:nvSpPr>
        <p:spPr>
          <a:xfrm>
            <a:off x="1005840" y="5010912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 헤더의 데이터셋명 클릭 시 프로필 드로어로 이동, "제외"로 즉시 목록 조정</a:t>
            </a:r>
            <a:endParaRPr lang="en-US" sz="1150" dirty="0"/>
          </a:p>
        </p:txBody>
      </p:sp>
      <p:sp>
        <p:nvSpPr>
          <p:cNvPr id="22" name="Shape 15"/>
          <p:cNvSpPr/>
          <p:nvPr/>
        </p:nvSpPr>
        <p:spPr>
          <a:xfrm>
            <a:off x="4754880" y="6080760"/>
            <a:ext cx="6949440" cy="502920"/>
          </a:xfrm>
          <a:prstGeom prst="roundRect">
            <a:avLst>
              <a:gd name="adj" fmla="val 12727"/>
            </a:avLst>
          </a:prstGeom>
          <a:solidFill>
            <a:srgbClr val="E8F0FE"/>
          </a:solidFill>
          <a:ln/>
        </p:spPr>
      </p:sp>
      <p:sp>
        <p:nvSpPr>
          <p:cNvPr id="23" name="Text 16"/>
          <p:cNvSpPr/>
          <p:nvPr/>
        </p:nvSpPr>
        <p:spPr>
          <a:xfrm>
            <a:off x="4937760" y="612648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5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MCP의 compare_datasets와 동일한 엔진 — compare_for_purpose Prompt가 이 사실 위에 조건부 해석을 얹는 표준 절차 제공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856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+ · CHANGES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84632" y="530352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변경 피드 — 스냅샷 부재를 폐기로 단정하지 않는다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700016" y="1545336"/>
            <a:ext cx="7059168" cy="4453128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3E7EC"/>
            </a:solidFill>
            <a:prstDash val="solid"/>
          </a:ln>
          <a:effectLst>
            <a:outerShdw sx="100000" sy="100000" kx="0" ky="0" algn="bl" rotWithShape="0" blurRad="127000" dist="38100" dir="5400000">
              <a:srgbClr val="9AA6B5">
                <a:alpha val="35000"/>
              </a:srgbClr>
            </a:outerShdw>
          </a:effectLst>
        </p:spPr>
      </p:sp>
      <p:pic>
        <p:nvPicPr>
          <p:cNvPr id="5" name="Image 0" descr="/private/tmp/claude-501/-Users-haklaekim-Documents-dev-2026-public-data-mcp/01818360-d7f0-47ca-9cda-901b4b890398/scratchpad/shots/6-chang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1600200"/>
            <a:ext cx="6949440" cy="4343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09928"/>
            <a:ext cx="201168" cy="20116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05840" y="154533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6개 변경 상태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1005840" y="1801368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ADDED · MODIFIED(변경 필드 표시) · MISSING_FROM_SNAPSHOT · REAPPEARED · POSSIBLE_IDENTITY_CHANGE · OFFICIALLY_WITHDRAWN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502920" y="2825496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916936"/>
            <a:ext cx="201168" cy="2011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05840" y="2752344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정직한 빈 상태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1005840" y="3008376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현재는 첫 스냅샷이라 "비교 기준 이전 스냅샷이 없습니다" 경고를 그대로 노출 — 없는 데이터를 꾸미지 않음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502920" y="3895344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3986784"/>
            <a:ext cx="201168" cy="20116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005840" y="3822192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 검증 완료</a:t>
            </a:r>
            <a:endParaRPr lang="en-US" sz="1350" dirty="0"/>
          </a:p>
        </p:txBody>
      </p:sp>
      <p:sp>
        <p:nvSpPr>
          <p:cNvPr id="17" name="Text 11"/>
          <p:cNvSpPr/>
          <p:nvPr/>
        </p:nvSpPr>
        <p:spPr>
          <a:xfrm>
            <a:off x="1005840" y="4078224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합성 스냅샷으로 6개 상태 전 경로 검증(95건 전부 기대치 일치). 3월 CSV 확보 즉시 실데이터 diff 가동</a:t>
            </a:r>
            <a:endParaRPr lang="en-US" sz="1150" dirty="0"/>
          </a:p>
        </p:txBody>
      </p:sp>
      <p:sp>
        <p:nvSpPr>
          <p:cNvPr id="18" name="Shape 12"/>
          <p:cNvSpPr/>
          <p:nvPr/>
        </p:nvSpPr>
        <p:spPr>
          <a:xfrm>
            <a:off x="502920" y="4965192"/>
            <a:ext cx="384048" cy="384048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5056632"/>
            <a:ext cx="201168" cy="201168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005840" y="489204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폐기는 확인 시에만</a:t>
            </a:r>
            <a:endParaRPr lang="en-US" sz="1350" dirty="0"/>
          </a:p>
        </p:txBody>
      </p:sp>
      <p:sp>
        <p:nvSpPr>
          <p:cNvPr id="21" name="Text 14"/>
          <p:cNvSpPr/>
          <p:nvPr/>
        </p:nvSpPr>
        <p:spPr>
          <a:xfrm>
            <a:off x="1005840" y="5148072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670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OFFICIALLY_WITHDRAWN은 포털 명시 확인 파일 기재 시에만 부여 — 부재 ≠ 폐기 원칙(diff-v1.0)</a:t>
            </a:r>
            <a:endParaRPr lang="en-US" sz="1150" dirty="0"/>
          </a:p>
        </p:txBody>
      </p:sp>
      <p:sp>
        <p:nvSpPr>
          <p:cNvPr id="22" name="Shape 15"/>
          <p:cNvSpPr/>
          <p:nvPr/>
        </p:nvSpPr>
        <p:spPr>
          <a:xfrm>
            <a:off x="4754880" y="6080760"/>
            <a:ext cx="6949440" cy="502920"/>
          </a:xfrm>
          <a:prstGeom prst="roundRect">
            <a:avLst>
              <a:gd name="adj" fmla="val 12727"/>
            </a:avLst>
          </a:prstGeom>
          <a:solidFill>
            <a:srgbClr val="E8F0FE"/>
          </a:solidFill>
          <a:ln/>
        </p:spPr>
      </p:sp>
      <p:sp>
        <p:nvSpPr>
          <p:cNvPr id="23" name="Text 16"/>
          <p:cNvSpPr/>
          <p:nvPr/>
        </p:nvSpPr>
        <p:spPr>
          <a:xfrm>
            <a:off x="4937760" y="612648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5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POSSIBLE_IDENTITY_CHANGE(제목·기관 동시 변경)는 목록키 재사용 의심 신호로 별도 상태 분리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22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858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남은 범위와 다음 의사결정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600200"/>
            <a:ext cx="3383280" cy="3108960"/>
          </a:xfrm>
          <a:prstGeom prst="roundRect">
            <a:avLst>
              <a:gd name="adj" fmla="val 2647"/>
            </a:avLst>
          </a:prstGeom>
          <a:solidFill>
            <a:srgbClr val="1A3468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83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FE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가능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" y="2240280"/>
            <a:ext cx="2926080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D8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MCP로 목적 질의 실사용 (.mcp.json 등록됨)</a:t>
            </a:r>
            <a:endParaRPr lang="en-US" sz="1150" dirty="0"/>
          </a:p>
          <a:p>
            <a:pPr marL="152400" indent="-152400">
              <a:lnSpc>
                <a:spcPct val="115000"/>
              </a:lnSpc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D8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골든셋 v0 인간 검수 → v1 승격</a:t>
            </a:r>
            <a:endParaRPr lang="en-US" sz="1150" dirty="0"/>
          </a:p>
          <a:p>
            <a:pPr marL="152400" indent="-152400">
              <a:lnSpc>
                <a:spcPct val="115000"/>
              </a:lnSpc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D8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3월 목록개방현황 CSV 확보 → 실데이터 diff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480560" y="1600200"/>
            <a:ext cx="3383280" cy="3108960"/>
          </a:xfrm>
          <a:prstGeom prst="roundRect">
            <a:avLst>
              <a:gd name="adj" fmla="val 2647"/>
            </a:avLst>
          </a:prstGeom>
          <a:solidFill>
            <a:srgbClr val="1A3468"/>
          </a:solidFill>
          <a:ln/>
        </p:spPr>
      </p:sp>
      <p:sp>
        <p:nvSpPr>
          <p:cNvPr id="7" name="Text 5"/>
          <p:cNvSpPr/>
          <p:nvPr/>
        </p:nvSpPr>
        <p:spPr>
          <a:xfrm>
            <a:off x="4709160" y="1783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공개 결정 후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09160" y="2240280"/>
            <a:ext cx="2926080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D8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부속 명세 3종(공개 계약 동결)</a:t>
            </a:r>
            <a:endParaRPr lang="en-US" sz="1150" dirty="0"/>
          </a:p>
          <a:p>
            <a:pPr marL="152400" indent="-152400">
              <a:lnSpc>
                <a:spcPct val="115000"/>
              </a:lnSpc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D8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data.datahub.kr 도메인·정본 URI 호스팅</a:t>
            </a:r>
            <a:endParaRPr lang="en-US" sz="1150" dirty="0"/>
          </a:p>
          <a:p>
            <a:pPr marL="152400" indent="-152400">
              <a:lnSpc>
                <a:spcPct val="115000"/>
              </a:lnSpc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D8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로그·지표(포털 이동률) · 활용 사례 5건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138160" y="1600200"/>
            <a:ext cx="3383280" cy="3108960"/>
          </a:xfrm>
          <a:prstGeom prst="roundRect">
            <a:avLst>
              <a:gd name="adj" fmla="val 2647"/>
            </a:avLst>
          </a:prstGeom>
          <a:solidFill>
            <a:srgbClr val="1A3468"/>
          </a:solidFill>
          <a:ln/>
        </p:spPr>
      </p:sp>
      <p:sp>
        <p:nvSpPr>
          <p:cNvPr id="10" name="Text 8"/>
          <p:cNvSpPr/>
          <p:nvPr/>
        </p:nvSpPr>
        <p:spPr>
          <a:xfrm>
            <a:off x="8366760" y="1783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C8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별도 트랙 (M3)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66760" y="2240280"/>
            <a:ext cx="2926080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D8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생성형 컨시어지(질문창) — 서버 측 LLM이 첫 MCP 클라이언트</a:t>
            </a:r>
            <a:endParaRPr lang="en-US" sz="1150" dirty="0"/>
          </a:p>
          <a:p>
            <a:pPr marL="152400" indent="-152400">
              <a:lnSpc>
                <a:spcPct val="115000"/>
              </a:lnSpc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D8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세션·총량·예산 캡 + 주입 방어 테스트</a:t>
            </a:r>
            <a:endParaRPr lang="en-US" sz="1150" dirty="0"/>
          </a:p>
          <a:p>
            <a:pPr marL="152400" indent="-152400">
              <a:lnSpc>
                <a:spcPct val="115000"/>
              </a:lnSpc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D8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코어 완료를 차단하지 않음(§11)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22960" y="5029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의사결정 2가지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2960" y="5440680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AFC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검색 고도화 — 골든셋 검수 후 P@10/NDCG 실측으로 임베딩 하이브리드 도입 판단 (월 10~20만 원 예산 내 재색인 비용 실측 필요)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FC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외부 공개 — 공개 계약 동결(부속 명세)·도메인 통제권 확인이 선행 조건, 그 전까지 인터페이스 비공표(§13.1)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2026-07-17T07:51:26Z</dcterms:created>
  <dcterms:modified xsi:type="dcterms:W3CDTF">2026-07-17T07:51:26Z</dcterms:modified>
</cp:coreProperties>
</file>