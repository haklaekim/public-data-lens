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설계서 v1.0 확정판(동결) 기반. AIRD 진단은 제2부 v0.87 표준 MMI(D5-03·D6-01·D7-01·D7-02) 기준이며 DM-0은 참고 공시. 벌크 정본(datasets/catalog-records/quality-annotations NDJSON) 산출.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 생성형 컨시어지(M3)는 서버 측 LLM이 호스트 역할을 하는 첫 MCP 클라이언트로 설계되어 있으며 이번 범위에서는 보류.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 소요 약 14초. 수용 검사 실패 시 배포 중단, 이전 정상 버전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in-memory 클라이언트로 tools/prompts/resources 전수 검증. ChatGPT·Cursor 등 타 클라이언트 호환성 확인은 §11 항목으로 남아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골든셋 eval_report.json에 질의별 상세 지표 저장. 평가 재현: python scripts/eval_goldenset.py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0건 시 AND→OR 자동 완화 후 warning 표시. 검색어 입력 제한 500자.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최신성은 목록 수준 판정이며 실데이터 최신성이 아님을 툴팁으로 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JSON-LD Context·SHACL 셰이프는 MCP Resource와 REST로 공개.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이상 요청 시 TOO_MANY_DATASETS 오류(§4.3 입력 제한).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REAPPEARED는 이전 diff의 MISSING 집합을 참조하는 체인 로직 — 단위 테스트로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로컬 검증 우선 방침에 따라 M3·공개 산출물은 보류. 저장소는 로컬 git(main, 2 커밋).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 내비게이터 v1.0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2487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정리와 화면 인터페이스 안내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3127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v1.0 확정판 기반 M1 + M2 — 코어 구현 후보(beta)  ·  스냅샷 2026-06  ·  2026-07-17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411480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A3468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96,056건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78408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 카탈로그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7248" y="411480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A3468"/>
          </a:solidFill>
          <a:ln/>
        </p:spPr>
      </p:sp>
      <p:sp>
        <p:nvSpPr>
          <p:cNvPr id="9" name="Text 7"/>
          <p:cNvSpPr/>
          <p:nvPr/>
        </p:nvSpPr>
        <p:spPr>
          <a:xfrm>
            <a:off x="3264408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5+1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64408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인터페이스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13248" y="411480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A3468"/>
          </a:solidFill>
          <a:ln/>
        </p:spPr>
      </p:sp>
      <p:sp>
        <p:nvSpPr>
          <p:cNvPr id="12" name="Text 10"/>
          <p:cNvSpPr/>
          <p:nvPr/>
        </p:nvSpPr>
        <p:spPr>
          <a:xfrm>
            <a:off x="5550408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DM-0 (참고)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50408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 표준 MMI 진단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99248" y="411480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A3468"/>
          </a:solidFill>
          <a:ln/>
        </p:spPr>
      </p:sp>
      <p:sp>
        <p:nvSpPr>
          <p:cNvPr id="15" name="Text 13"/>
          <p:cNvSpPr/>
          <p:nvPr/>
        </p:nvSpPr>
        <p:spPr>
          <a:xfrm>
            <a:off x="7836408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26/26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36408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 기준 테스트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하고 싶은 일을 말하면, 사용할 공공데이터와 그 선택 이유, 함께 필요한 데이터, 확인해야 할 한계를 알려주는 AI 공공데이터 내비게이터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 구조와 책임 분리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035040" cy="969264"/>
          </a:xfrm>
          <a:prstGeom prst="roundRect">
            <a:avLst>
              <a:gd name="adj" fmla="val 6604"/>
            </a:avLst>
          </a:prstGeom>
          <a:solidFill>
            <a:srgbClr val="10224E"/>
          </a:solidFill>
          <a:ln w="12700">
            <a:solidFill>
              <a:srgbClr val="102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 · 판단·경험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1109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호스트 에이전트(클로드 등) · 웹 UI — 의도 해석, 조건부 추천, 활용 계획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3520440" y="2450592"/>
            <a:ext cx="0" cy="201168"/>
          </a:xfrm>
          <a:prstGeom prst="line">
            <a:avLst/>
          </a:prstGeom>
          <a:noFill/>
          <a:ln w="1905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2651760"/>
            <a:ext cx="6035040" cy="969264"/>
          </a:xfrm>
          <a:prstGeom prst="roundRect">
            <a:avLst>
              <a:gd name="adj" fmla="val 6604"/>
            </a:avLst>
          </a:prstGeom>
          <a:solidFill>
            <a:srgbClr val="1856C9"/>
          </a:solidFill>
          <a:ln w="12700">
            <a:solidFill>
              <a:srgbClr val="185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7063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2층 · 인터페이스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0815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서버 + REST — 결정론적 Tool 5+1 · Prompt 2 · Resource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3520440" y="3621024"/>
            <a:ext cx="0" cy="201168"/>
          </a:xfrm>
          <a:prstGeom prst="line">
            <a:avLst/>
          </a:prstGeom>
          <a:noFill/>
          <a:ln w="1905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3822192"/>
            <a:ext cx="603504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4106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 · AIRD 정본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스냅샷 → 정규화(매핑표) → JSON-LD · SHACL · 판정 규칙 · diff · 이슈 관찰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3520440" y="4791456"/>
            <a:ext cx="0" cy="201168"/>
          </a:xfrm>
          <a:prstGeom prst="line">
            <a:avLst/>
          </a:prstGeom>
          <a:noFill/>
          <a:ln w="1905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4992624"/>
            <a:ext cx="6035040" cy="969264"/>
          </a:xfrm>
          <a:prstGeom prst="roundRect">
            <a:avLst>
              <a:gd name="adj" fmla="val 6604"/>
            </a:avLst>
          </a:prstGeom>
          <a:solidFill>
            <a:srgbClr val="F4F6F9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11149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원천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542239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5AE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공공데이터포털 목록개방현황(월간 CSV) — 원본 무손실 보존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4813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설계의 핵심 규칙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03720" y="195681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48256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06640" y="18836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 가능한 판정 = 서버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406640" y="21396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정규화·완전성·최신성·비교·랭킹은 규칙 버전과 함께 서버가 결정론적으로 수행 (§2)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903720" y="277977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87121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06640" y="2706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의존적 해석 = 호스트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7406640" y="29626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"고령자 의료 접근성" 같은 목적 문장의 분해·조건부 추천은 MCP 호스트(클로드 등)의 몫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903720" y="360273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69417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406640" y="35295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포털을 대체하지 않음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7406640" y="37856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원문 접근은 공공데이터포털로 연결 — 탐색·판단 계층에 머무름 (§1)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903720" y="442569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51713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06640" y="43525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수준의 명시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7406640" y="46085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판정은 목록 메타데이터 기반(CATALOG_METADATA_ONLY) — 실데이터 품질 비보증, 전 응답 면책 고지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903720" y="538581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5477256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06640" y="53126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원자적 배포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7406640" y="556869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릴리스 빌드 후 current 포인터 교체 — 실행 중 서버가 재시작 없이 새 스냅샷 반영 (§8, 실검증 완료)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AIRD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파이프라인 — 수집에서 원자적 배포까지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보존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(해시·행수)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1801368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47672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1993392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파싱·정규화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(FILE/API/STD)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92424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완전성·지역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·이슈 관찰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690872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37176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정본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(dcat·kdp)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135624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1928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검증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580376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(6개 상태)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025128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71432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9217152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 검사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(§11)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0469880" y="1920240"/>
            <a:ext cx="146304" cy="0"/>
          </a:xfrm>
          <a:prstGeom prst="line">
            <a:avLst/>
          </a:prstGeom>
          <a:noFill/>
          <a:ln w="1524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16184" y="1481328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1856C9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1904" y="1517904"/>
            <a:ext cx="1207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원자적 배포</a:t>
            </a:r>
            <a:endParaRPr lang="en-US" sz="9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(포인터 교체)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2920" y="27432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" y="285292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96,056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" y="341985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적재 레코드 (2026-06)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" y="367588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행수 일치 · URL 보존 100% · record_id 중복 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4992" y="27432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285292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474720" y="341985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QI_MMI → DM-0 (참고)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474720" y="367588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MMI 4지표 D5-03·D6-01·D7-01·D7-02, 임계 0.7 (aird-mmi-v1.1)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27064" y="27432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36792" y="285292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336792" y="341985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치명 오류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36792" y="367588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카탈로그 노드 + 표본 500 검증, 전수 구조 검사 병행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89136" y="2743200"/>
            <a:ext cx="25968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98864" y="28529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16종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9198864" y="3419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규칙 레지스트리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198864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rule-id·버전·정의·발효일 공개, 전 응답에 버전 표기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중 내린 판정 규칙 (부속 명세 확정 대상)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2920" y="491032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01768"/>
            <a:ext cx="201168" cy="20116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005840" y="483717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목록키 이중 등재 처리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1005840" y="509320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FILE/API 이중 등재는 불변 URI(목록키)를 공유하고 record_id로 분리 보존 + 이슈 관찰. 2026-02: 22건 → 2026-06: 0건(포털 측 해소 확인)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02920" y="5888736"/>
            <a:ext cx="384048" cy="38404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80176"/>
            <a:ext cx="201168" cy="20116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005840" y="581558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계통적 이슈 패턴 축약</a:t>
            </a:r>
            <a:endParaRPr lang="en-US" sz="1350" dirty="0"/>
          </a:p>
        </p:txBody>
      </p:sp>
      <p:sp>
        <p:nvSpPr>
          <p:cNvPr id="51" name="Text 47"/>
          <p:cNvSpPr/>
          <p:nvPr/>
        </p:nvSpPr>
        <p:spPr>
          <a:xfrm>
            <a:off x="1005840" y="607161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전화번호 백틱이 전 행의 99% 이상에서 발견 — 행별이 아닌 카탈로그 수준 관찰 1건으로 축약 (2026-06 기준 이슈 15건)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6400800" y="491032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001768"/>
            <a:ext cx="201168" cy="20116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903720" y="48371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매칭 근거 수준</a:t>
            </a:r>
            <a:endParaRPr lang="en-US" sz="1350" dirty="0"/>
          </a:p>
        </p:txBody>
      </p:sp>
      <p:sp>
        <p:nvSpPr>
          <p:cNvPr id="55" name="Text 50"/>
          <p:cNvSpPr/>
          <p:nvPr/>
        </p:nvSpPr>
        <p:spPr>
          <a:xfrm>
            <a:off x="6903720" y="509320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EXPLICIT_SPATIAL(0.95) &gt; 제목(0.8) &gt; 기관(0.6) &gt; 설명(0.5) 추론, 동음이의(광주) 감점 — 공간범위 기재율 5.6% 실측 대응</a:t>
            </a:r>
            <a:endParaRPr lang="en-US" sz="1150" dirty="0"/>
          </a:p>
        </p:txBody>
      </p:sp>
      <p:sp>
        <p:nvSpPr>
          <p:cNvPr id="56" name="Shape 51"/>
          <p:cNvSpPr/>
          <p:nvPr/>
        </p:nvSpPr>
        <p:spPr>
          <a:xfrm>
            <a:off x="6400800" y="588873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980176"/>
            <a:ext cx="201168" cy="201168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903720" y="581558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최신성은 목록 수준 판정</a:t>
            </a:r>
            <a:endParaRPr lang="en-US" sz="1350" dirty="0"/>
          </a:p>
        </p:txBody>
      </p:sp>
      <p:sp>
        <p:nvSpPr>
          <p:cNvPr id="59" name="Text 53"/>
          <p:cNvSpPr/>
          <p:nvPr/>
        </p:nvSpPr>
        <p:spPr>
          <a:xfrm>
            <a:off x="6903720" y="607161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수정일 × 정규화 주기로 FRESH/POSSIBLY_STALE/UNKNOWN — 실데이터 최신성이 아님을 명시 (freshness-v1.0)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MCP + REST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5+1 · Prompt 2 · Resource 4 — 하나의 판단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72768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search_datasets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9224" y="186537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키워드+필터 검색, BM25 랭킹 메타·지역 근거 수준 동반, 커서 페이징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481328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2544" y="1572768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52544" y="186537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뷰: card(판단 요약) · normalized · source(원본) · jsonld(정본)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779776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compare_datasets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" y="3072384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5개 구조화된 사실 비교 — 해석 없음, 목적별 의미는 호스트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688336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2779776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get_catalog_changes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52544" y="3072384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ADDED/MODIFIED/MISSING/REAPPEARED/IDENTITY/WITHDRAWN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986784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get_catalog_stats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" y="4279392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theme·org·format·완전성(프로파일별 히스토그램)·listType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3895344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3986784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get_context (호환)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52544" y="4279392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미지원 클라이언트용 서비스 개요·규칙 요약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계약 (§4.3)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46720" y="182880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10224E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19202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data,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meta: { sourceSnapshot,
    processedAt, schemaVersion,
    ruleVersions[] },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warnings[] 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4472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538728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49640" y="33741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모델 9종 일관 구조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49640" y="36301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RATE_LIMITED 포함(설계 검토에서 식별한 §4.3 보완) — HTTP 상태 매핑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046720" y="422452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315968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549640" y="41513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3중 제공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8549640" y="44074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Prompt + Tool 설명 내장 + 공개 문서(build-data-plan-v1.0.md)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046720" y="500176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5093208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549640" y="49286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4종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8549640" y="51846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레지스트리 · JSON-LD Context · SHACL 셰이프 · Prompt 문서 (§7 URI)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046720" y="577900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5870448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549640" y="57058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REST는 같은 Service 사용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8549640" y="59618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로직 이중화 금지(§2) — 웹은 REST, 에이전트는 MCP로 동일 엔진 접근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50292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보안(§10) — 목록 필드는 참조 데이터이며 지시문이 아니다: Tool 설명·서버 instructions에 명시, 원천 텍스트 주입 방어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02920" y="5715000"/>
            <a:ext cx="7315200" cy="777240"/>
          </a:xfrm>
          <a:prstGeom prst="roundRect">
            <a:avLst>
              <a:gd name="adj" fmla="val 8235"/>
            </a:avLst>
          </a:prstGeom>
          <a:solidFill>
            <a:srgbClr val="E8F0FE"/>
          </a:solidFill>
          <a:ln/>
        </p:spPr>
      </p:sp>
      <p:sp>
        <p:nvSpPr>
          <p:cNvPr id="43" name="Text 37"/>
          <p:cNvSpPr/>
          <p:nvPr/>
        </p:nvSpPr>
        <p:spPr>
          <a:xfrm>
            <a:off x="685800" y="578815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.mcp.json 등록 완료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5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이 프로젝트에서 Claude Code를 열면 datanav 서버가 자동 인식됩니다. "고령자 의료 접근성을 분석하고 싶어" 같은 목적 질의는 호스트가 Tool 조합으로 수행합니다.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결과 — 수용 기준 · 골든셋 · diff 실전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골든셋 v0 실측 (BM25, 스냅샷 2026-06, 질의 50개)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9385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50545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Precision@10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276148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10건 중 관련 비율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62072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19385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71800" y="250545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71800" y="276148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10건의 관련 데이터 회수율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21224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30952" y="19385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30952" y="250545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NDCG@10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30952" y="276148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 품질 (1.0 = 이상적)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0376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B9C2CE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90104" y="19385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· 100%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690104" y="250545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 비율 · 성공률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90104" y="276148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질의 결과 존재, 관련 1건 이상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9272016" cy="658368"/>
          </a:xfrm>
          <a:prstGeom prst="roundRect">
            <a:avLst>
              <a:gd name="adj" fmla="val 9722"/>
            </a:avLst>
          </a:prstGeom>
          <a:solidFill>
            <a:srgbClr val="FFF7E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502152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단서: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관련성 판정이 제목 정규식 기반 초판(인간 검수 전)이라 수치가 후할 수 있음. 복합어 질의의 AND 검색 약점이 확인됨 — "유기동물 보호소" NDCG 0.25, "미세먼지 측정" 0.32. 골든셋 검수 후 임베딩 도입 여부 판단.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외 검증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8188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910328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47457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 기준 테스트 26/26 통과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005840" y="500176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정규화·완전성 프로파일·지역 근거·diff 6상태·페이징 무중복·4뷰 정합·오류 일관성·SHACL 위반 탐지·DM-0 임계값 (§11)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582472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16168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05840" y="57515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실데이터 diff 가동 (2026-02 → 2026-06)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1005840" y="600760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60,790 · 정체성 변경 의심 5,817 · ADDED 1,666 · MISSING 1,403 — 합성 스냅샷 검증 후 실데이터 전환 완료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00800" y="4818888"/>
            <a:ext cx="384048" cy="384048"/>
          </a:xfrm>
          <a:prstGeom prst="ellipse">
            <a:avLst/>
          </a:prstGeom>
          <a:solidFill>
            <a:srgbClr val="1E8E4E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910328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03720" y="47457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실기 확인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903720" y="50017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검색→프로필→비교→변경 피드 전 화면 동작·표기(스냅샷·규칙 버전·면책) 확인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400800" y="582472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916168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03720" y="575157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원자적 배포 실검증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6903720" y="600760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재빌드 시 실행 중 API가 포인터 교체를 감지해 무중단 전환 — 2026-02→2026-06 교체도 동일 경로로 무중단 수행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— 필터·근거·랭킹의 투명한 표시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0016" y="15453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5">
                <a:alpha val="35000"/>
              </a:srgbClr>
            </a:outerShdw>
          </a:effectLst>
        </p:spPr>
      </p:sp>
      <p:pic>
        <p:nvPicPr>
          <p:cNvPr id="5" name="Image 0" descr="/private/tmp/claude-501/-Users-haklaekim-Documents-dev-2026-public-data-mcp/01818360-d7f0-47ca-9cda-901b4b890398/scratchpad/shots/2-search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0992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545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검색 + 예시 질문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5840" y="18013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랭킹. 결과 상단에 랭킹 방식·규칙 버전(ranking-bm25-v1.0)을 항상 표기해 재현성을 보장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797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15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5종 필터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05840" y="28712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목록유형(FILE/API/STD) · 지역(시도 17) · 업데이트 주기 · 포맷 · "추론 지역 포함" 토글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758184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962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6850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근거 배지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05840" y="394106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공간범위 명시는 초록, 제목·기관 추론은 회색+물음표(울산?) — 근거 수준과 신뢰도를 숨기지 않음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4828032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91947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완전성 바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05840" y="5010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 메타데이터 완전성을 유형별 프로파일 기준으로 시각화(막대+%)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02920" y="5760720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85216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05840" y="5687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 원문 링크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005840" y="59436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행에서 공공데이터포털 원문으로 직행 — 활용 전환(포털 이동률)이 최우선 지표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754880" y="6080760"/>
            <a:ext cx="6949440" cy="502920"/>
          </a:xfrm>
          <a:prstGeom prst="roundRect">
            <a:avLst>
              <a:gd name="adj" fmla="val 12727"/>
            </a:avLst>
          </a:prstGeom>
          <a:solidFill>
            <a:srgbClr val="E8F0FE"/>
          </a:solidFill>
          <a:ln/>
        </p:spPr>
      </p:sp>
      <p:sp>
        <p:nvSpPr>
          <p:cNvPr id="27" name="Text 19"/>
          <p:cNvSpPr/>
          <p:nvPr/>
        </p:nvSpPr>
        <p:spPr>
          <a:xfrm>
            <a:off x="4937760" y="6126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상단 상태 칩: 현재 스냅샷(2026-06) · 데이터 건수 · 분석 기준일을 모든 화면에서 상시 노출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프로필 — 판단용 카드 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0016" y="15453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5">
                <a:alpha val="35000"/>
              </a:srgbClr>
            </a:outerShdw>
          </a:effectLst>
        </p:spPr>
      </p:sp>
      <p:pic>
        <p:nvPicPr>
          <p:cNvPr id="5" name="Image 0" descr="/private/tmp/claude-501/-Users-haklaekim-Documents-dev-2026-public-data-mcp/01818360-d7f0-47ca-9cda-901b4b890398/scratchpad/shots/3-profile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0992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545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판단에 필요한 요약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5840" y="18013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분류·포맷·주기·이용허락·등록/수정일·공간/시간범위·전체 행을 한 화면에 재구성 (card-projection-v1.0)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797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15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판정 2종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05840" y="28712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완전성 81%(FILE 프로파일 기준) + 최신성 "갱신 지연 가능 · 수정 후 747일" — 판정 근거와 규칙 버전 동반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758184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962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6850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 연결 박스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05840" y="394106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목록키 · 제공기관 · 목록 기준월 · 분석 기준일 · 원문 확인 링크(§2 공통 통제 원칙)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4828032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91947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수준 고지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05840" y="50109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"목록 메타데이터만(CATALOG_METADATA_ONLY) — 실제 데이터 내용은 확인되지 않았습니다" 상시 표기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02920" y="5897880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98932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05840" y="5824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메타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005840" y="60807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스냅샷과 적용된 규칙 버전 4종을 카드 하단에 명시 — 모든 화면 공통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754880" y="6080760"/>
            <a:ext cx="6949440" cy="502920"/>
          </a:xfrm>
          <a:prstGeom prst="roundRect">
            <a:avLst>
              <a:gd name="adj" fmla="val 12727"/>
            </a:avLst>
          </a:prstGeom>
          <a:solidFill>
            <a:srgbClr val="E8F0FE"/>
          </a:solidFill>
          <a:ln/>
        </p:spPr>
      </p:sp>
      <p:sp>
        <p:nvSpPr>
          <p:cNvPr id="27" name="Text 19"/>
          <p:cNvSpPr/>
          <p:nvPr/>
        </p:nvSpPr>
        <p:spPr>
          <a:xfrm>
            <a:off x="4937760" y="6126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 관찰이 있는 데이터셋은 카드 상단에 "자동 탐지, 검수 전" 경고를 함께 표시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뷰 — 카드·정규화·원본·JSON-LD 정본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0016" y="15453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5">
                <a:alpha val="35000"/>
              </a:srgbClr>
            </a:outerShdw>
          </a:effectLst>
        </p:spPr>
      </p:sp>
      <p:pic>
        <p:nvPicPr>
          <p:cNvPr id="5" name="Image 0" descr="/private/tmp/claude-501/-Users-haklaekim-Documents-dev-2026-public-data-mcp/01818360-d7f0-47ca-9cda-901b4b890398/scratchpad/shots/4-profile-json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0992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545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 전환 탭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5840" y="18013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카드(판단) · 정규화(전체 필드) · 원본(CSV 필드·값 그대로) · JSON-LD(정본) — 4뷰 정합은 테스트로 보장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797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15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정본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05840" y="28712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dcat:Dataset + kdp 확장. @id는 §7 확정 네임스페이스의 불변 URI (data.datahub.kr/projects/datanav/dataset/{목록키})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758184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962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6850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Q-Tier·DM 부여 금지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05840" y="394106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kdp:qualityTier / diagnosticMaturity를 명시적 null로 유지 — 실데이터 진단 전 미부여 원칙(§3.1)을 데이터로 표현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4828032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91947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추적성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05840" y="50109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뷰는 목록개방현황 CSV의 필드·값을 무손실 보존 — 정규화 이전 값 검증 가능(수용 기준)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754880" y="6080760"/>
            <a:ext cx="6949440" cy="502920"/>
          </a:xfrm>
          <a:prstGeom prst="roundRect">
            <a:avLst>
              <a:gd name="adj" fmla="val 12727"/>
            </a:avLst>
          </a:prstGeom>
          <a:solidFill>
            <a:srgbClr val="E8F0FE"/>
          </a:solidFill>
          <a:ln/>
        </p:spPr>
      </p:sp>
      <p:sp>
        <p:nvSpPr>
          <p:cNvPr id="23" name="Text 16"/>
          <p:cNvSpPr/>
          <p:nvPr/>
        </p:nvSpPr>
        <p:spPr>
          <a:xfrm>
            <a:off x="4937760" y="6126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evidenceLevel: CATALOG_METADATA_ONLY, sourceSnapshot: 2026-06 — 정본에도 근거 수준이 새겨짐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/ 4 · 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— 구조화된 사실, 해석은 하지 않는다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0016" y="15453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5">
                <a:alpha val="35000"/>
              </a:srgbClr>
            </a:outerShdw>
          </a:effectLst>
        </p:spPr>
      </p:sp>
      <p:pic>
        <p:nvPicPr>
          <p:cNvPr id="5" name="Image 0" descr="/private/tmp/claude-501/-Users-haklaekim-Documents-dev-2026-public-data-mcp/01818360-d7f0-47ca-9cda-901b4b890398/scratchpad/shots/5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0992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545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5개 사실 비교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5840" y="18013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결과에서 체크한 데이터셋을 표로 대조. 차이(differences)를 먼저, 공통 항목은 접어서 제공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797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15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무해석 원칙(§4.1)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05840" y="28712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고지: "구조화된 사실 비교입니다. 목적별 의미 해석은 포함하지 않습니다" — 해석은 호스트/사용자의 몫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758184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962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6850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재료의 병치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05840" y="394106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vs API, 갱신 주기(반기 vs 미지정), 수정일, 완전성 점수, 키워드 차이가 한눈에 드러남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4828032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91947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연결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05840" y="5010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헤더의 데이터셋명 클릭 시 프로필 드로어로 이동, "제외"로 즉시 목록 조정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754880" y="6080760"/>
            <a:ext cx="6949440" cy="502920"/>
          </a:xfrm>
          <a:prstGeom prst="roundRect">
            <a:avLst>
              <a:gd name="adj" fmla="val 12727"/>
            </a:avLst>
          </a:prstGeom>
          <a:solidFill>
            <a:srgbClr val="E8F0FE"/>
          </a:solidFill>
          <a:ln/>
        </p:spPr>
      </p:sp>
      <p:sp>
        <p:nvSpPr>
          <p:cNvPr id="23" name="Text 16"/>
          <p:cNvSpPr/>
          <p:nvPr/>
        </p:nvSpPr>
        <p:spPr>
          <a:xfrm>
            <a:off x="4937760" y="6126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MCP의 compare_datasets와 동일한 엔진 — compare_for_purpose Prompt가 이 사실 위에 조건부 해석을 얹는 표준 절차 제공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5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+ · CHANGES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피드 — 스냅샷 부재를 폐기로 단정하지 않는다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0016" y="15453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5">
                <a:alpha val="35000"/>
              </a:srgbClr>
            </a:outerShdw>
          </a:effectLst>
        </p:spPr>
      </p:sp>
      <p:pic>
        <p:nvPicPr>
          <p:cNvPr id="5" name="Image 0" descr="/private/tmp/claude-501/-Users-haklaekim-Documents-dev-2026-public-data-mcp/01818360-d7f0-47ca-9cda-901b4b890398/scratchpad/shots/6-chan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0992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545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변경 상태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5840" y="180136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· MODIFIED(변경 필드 표시) · MISSING_FROM_SNAPSHOT · REAPPEARED · POSSIBLE_IDENTITY_CHANGE · OFFICIALLY_WITHDRAWN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825496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1693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52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실데이터 diff 가동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05840" y="300837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2026-02 → 현재 2026-06: 총 69,676건 변경 판정(MODIFIED 60,790 · ADDED 1,666 · MISSING 1,403 등)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895344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8678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8221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기관 개편 자동 감지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05840" y="40782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전남광주통합특별시 출범, 한국보육진흥원 개칭 등 5,817건이 POSSIBLE_IDENTITY_CHANGE로 포착 — §6 환류 인사이트 첫 실사례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4965192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05663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892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폐기는 확인 시에만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05840" y="51480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OFFICIALLY_WITHDRAWN은 포털 명시 확인 파일 기재 시에만 부여 — 부재 ≠ 폐기 원칙(diff-v1.0)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754880" y="6080760"/>
            <a:ext cx="6949440" cy="502920"/>
          </a:xfrm>
          <a:prstGeom prst="roundRect">
            <a:avLst>
              <a:gd name="adj" fmla="val 12727"/>
            </a:avLst>
          </a:prstGeom>
          <a:solidFill>
            <a:srgbClr val="E8F0FE"/>
          </a:solidFill>
          <a:ln/>
        </p:spPr>
      </p:sp>
      <p:sp>
        <p:nvSpPr>
          <p:cNvPr id="23" name="Text 16"/>
          <p:cNvSpPr/>
          <p:nvPr/>
        </p:nvSpPr>
        <p:spPr>
          <a:xfrm>
            <a:off x="4937760" y="6126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POSSIBLE_IDENTITY_CHANGE(제목·기관 동시 변경)는 목록키 재사용 의심 신호로 별도 상태 분리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범위와 다음 의사결정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1A3468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가능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24028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MCP로 목적 질의 실사용 (.mcp.json 등록됨)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골든셋 v0 인간 검수 → v1 승격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부속 명세 초안 작성 → 공개 계약 동결 준비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80560" y="16002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1A3468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결정 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224028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부속 명세 3종(공개 계약 동결)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data.datahub.kr 도메인·정본 URI 호스팅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로그·지표(포털 이동률) · 활용 사례 5건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1A3468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트랙 (M3)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224028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컨시어지(질문창) — 서버 측 LLM이 첫 MCP 클라이언트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세션·총량·예산 캡 + 주입 방어 테스트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8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완료를 차단하지 않음(§11)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의사결정 2가지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AF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검색 고도화 — 골든셋 검수 후 P@10/NDCG 실측으로 임베딩 하이브리드 도입 판단 (월 10~20만 원 예산 내 재색인 비용 실측 필요)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외부 공개 — 공개 계약 동결(부속 명세)·도메인 통제권 확인이 선행 조건, 그 전까지 인터페이스 비공표(§13.1)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2026-07-17T08:18:21Z</dcterms:created>
  <dcterms:modified xsi:type="dcterms:W3CDTF">2026-07-17T08:18:21Z</dcterms:modified>
</cp:coreProperties>
</file>